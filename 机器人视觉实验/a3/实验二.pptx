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heme/themeOverride1.xml" ContentType="application/vnd.openxmlformats-officedocument.themeOverr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580" r:id="rId2"/>
    <p:sldId id="581" r:id="rId3"/>
    <p:sldId id="582" r:id="rId4"/>
    <p:sldId id="583" r:id="rId5"/>
    <p:sldId id="584" r:id="rId6"/>
    <p:sldId id="585" r:id="rId7"/>
    <p:sldId id="587" r:id="rId8"/>
    <p:sldId id="601" r:id="rId9"/>
    <p:sldId id="589" r:id="rId10"/>
    <p:sldId id="602" r:id="rId11"/>
    <p:sldId id="603" r:id="rId12"/>
    <p:sldId id="604" r:id="rId13"/>
    <p:sldId id="605" r:id="rId14"/>
    <p:sldId id="606" r:id="rId15"/>
    <p:sldId id="590" r:id="rId16"/>
    <p:sldId id="607" r:id="rId17"/>
    <p:sldId id="609" r:id="rId18"/>
    <p:sldId id="608" r:id="rId19"/>
    <p:sldId id="596" r:id="rId20"/>
    <p:sldId id="610" r:id="rId21"/>
    <p:sldId id="611" r:id="rId22"/>
    <p:sldId id="613" r:id="rId23"/>
    <p:sldId id="612" r:id="rId24"/>
    <p:sldId id="651" r:id="rId25"/>
    <p:sldId id="653" r:id="rId26"/>
    <p:sldId id="652" r:id="rId27"/>
    <p:sldId id="597" r:id="rId28"/>
  </p:sldIdLst>
  <p:sldSz cx="12192000" cy="6858000"/>
  <p:notesSz cx="6858000" cy="9144000"/>
  <p:custDataLst>
    <p:tags r:id="rId3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2F55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554" autoAdjust="0"/>
    <p:restoredTop sz="94660"/>
  </p:normalViewPr>
  <p:slideViewPr>
    <p:cSldViewPr snapToGrid="0">
      <p:cViewPr varScale="1">
        <p:scale>
          <a:sx n="78" d="100"/>
          <a:sy n="78" d="100"/>
        </p:scale>
        <p:origin x="396" y="5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ags" Target="tags/tag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7EF420-D389-44F7-9ACB-0216D35A4BCF}" type="datetimeFigureOut">
              <a:rPr lang="zh-CN" altLang="en-US" smtClean="0"/>
              <a:t>2024/5/20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429568-66D4-4838-9EE7-F8683FA77CA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BFB88F14-AFC2-459B-880F-E22D4421A5C8}" type="datetimeFigureOut">
              <a:rPr lang="zh-CN" altLang="en-US" smtClean="0"/>
              <a:t>2024/5/20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2250EBA-3C10-43C7-B399-19D8A4271C50}"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BFB88F14-AFC2-459B-880F-E22D4421A5C8}" type="datetimeFigureOut">
              <a:rPr lang="zh-CN" altLang="en-US" smtClean="0"/>
              <a:t>2024/5/20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2250EBA-3C10-43C7-B399-19D8A4271C50}"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BFB88F14-AFC2-459B-880F-E22D4421A5C8}" type="datetimeFigureOut">
              <a:rPr lang="zh-CN" altLang="en-US" smtClean="0"/>
              <a:t>2024/5/20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2250EBA-3C10-43C7-B399-19D8A4271C50}"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BFB88F14-AFC2-459B-880F-E22D4421A5C8}" type="datetimeFigureOut">
              <a:rPr lang="zh-CN" altLang="en-US" smtClean="0"/>
              <a:t>2024/5/20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2250EBA-3C10-43C7-B399-19D8A4271C50}"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BFB88F14-AFC2-459B-880F-E22D4421A5C8}" type="datetimeFigureOut">
              <a:rPr lang="zh-CN" altLang="en-US" smtClean="0"/>
              <a:t>2024/5/20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2250EBA-3C10-43C7-B399-19D8A4271C50}"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FB88F14-AFC2-459B-880F-E22D4421A5C8}" type="datetimeFigureOut">
              <a:rPr lang="zh-CN" altLang="en-US" smtClean="0"/>
              <a:t>2024/5/20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2250EBA-3C10-43C7-B399-19D8A4271C50}"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FB88F14-AFC2-459B-880F-E22D4421A5C8}" type="datetimeFigureOut">
              <a:rPr lang="zh-CN" altLang="en-US" smtClean="0"/>
              <a:t>2024/5/20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2250EBA-3C10-43C7-B399-19D8A4271C50}"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FB88F14-AFC2-459B-880F-E22D4421A5C8}" type="datetimeFigureOut">
              <a:rPr lang="zh-CN" altLang="en-US" smtClean="0"/>
              <a:t>2024/5/20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2250EBA-3C10-43C7-B399-19D8A4271C50}"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FB88F14-AFC2-459B-880F-E22D4421A5C8}" type="datetimeFigureOut">
              <a:rPr lang="zh-CN" altLang="en-US" smtClean="0"/>
              <a:t>2024/5/20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2250EBA-3C10-43C7-B399-19D8A4271C50}"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BFB88F14-AFC2-459B-880F-E22D4421A5C8}" type="datetimeFigureOut">
              <a:rPr lang="zh-CN" altLang="en-US" smtClean="0"/>
              <a:t>2024/5/20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2250EBA-3C10-43C7-B399-19D8A4271C50}"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BFB88F14-AFC2-459B-880F-E22D4421A5C8}" type="datetimeFigureOut">
              <a:rPr lang="zh-CN" altLang="en-US" smtClean="0"/>
              <a:t>2024/5/20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2250EBA-3C10-43C7-B399-19D8A4271C50}"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B88F14-AFC2-459B-880F-E22D4421A5C8}" type="datetimeFigureOut">
              <a:rPr lang="zh-CN" altLang="en-US" smtClean="0"/>
              <a:t>2024/5/20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250EBA-3C10-43C7-B399-19D8A4271C50}"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GIF"/></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themeOverride" Target="../theme/themeOverride1.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1.png"/><Relationship Id="rId7"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图片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600" y="0"/>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8" name="直接连接符 57"/>
          <p:cNvCxnSpPr/>
          <p:nvPr/>
        </p:nvCxnSpPr>
        <p:spPr>
          <a:xfrm>
            <a:off x="0" y="981590"/>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7" name="Rectangle 3"/>
          <p:cNvSpPr txBox="1"/>
          <p:nvPr/>
        </p:nvSpPr>
        <p:spPr>
          <a:xfrm>
            <a:off x="0" y="952070"/>
            <a:ext cx="12029241" cy="5905930"/>
          </a:xfr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indent="457200">
              <a:lnSpc>
                <a:spcPct val="100000"/>
              </a:lnSpc>
              <a:spcBef>
                <a:spcPts val="0"/>
              </a:spcBef>
              <a:buFont typeface="Wingdings" panose="05000000000000000000" pitchFamily="2" charset="2"/>
              <a:buChar char="l"/>
            </a:pPr>
            <a:r>
              <a:rPr lang="zh-CN" altLang="en-US" sz="2400" b="1" dirty="0">
                <a:solidFill>
                  <a:srgbClr val="FF0000"/>
                </a:solidFill>
                <a:latin typeface="Times New Roman" panose="02020603050405020304" pitchFamily="18" charset="0"/>
                <a:ea typeface="微软雅黑" panose="020B0503020204020204" pitchFamily="34" charset="-122"/>
              </a:rPr>
              <a:t>案例背景</a:t>
            </a:r>
            <a:endParaRPr lang="en-US" altLang="zh-CN" sz="2400" b="1" dirty="0">
              <a:solidFill>
                <a:srgbClr val="FF0000"/>
              </a:solidFill>
              <a:latin typeface="Times New Roman" panose="02020603050405020304" pitchFamily="18" charset="0"/>
              <a:ea typeface="微软雅黑" panose="020B0503020204020204" pitchFamily="34" charset="-122"/>
            </a:endParaRPr>
          </a:p>
          <a:p>
            <a:pPr marL="0" indent="457200">
              <a:lnSpc>
                <a:spcPct val="100000"/>
              </a:lnSpc>
              <a:spcBef>
                <a:spcPts val="0"/>
              </a:spcBef>
              <a:buNone/>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当前，在木材运输过程中，对车辆装载木材的稽查以及查验的方式主要还是</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以人工方式为主，劳动强度大，工作效率低，易出错</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。因此</a:t>
            </a:r>
            <a:r>
              <a:rPr lang="zh-CN" altLang="en-US" sz="24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对于木材计数的自动识别</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也得到了越来越多的研究。</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marL="571500" indent="457200">
              <a:lnSpc>
                <a:spcPct val="100000"/>
              </a:lnSpc>
              <a:spcBef>
                <a:spcPts val="0"/>
              </a:spcBef>
              <a:buFont typeface="Wingdings" panose="05000000000000000000" pitchFamily="2" charset="2"/>
              <a:buChar char="l"/>
            </a:pPr>
            <a:r>
              <a:rPr lang="zh-CN" altLang="en-US" sz="2400" b="1" dirty="0">
                <a:solidFill>
                  <a:srgbClr val="FF0000"/>
                </a:solidFill>
                <a:latin typeface="Times New Roman" panose="02020603050405020304" pitchFamily="18" charset="0"/>
                <a:ea typeface="微软雅黑" panose="020B0503020204020204" pitchFamily="34" charset="-122"/>
              </a:rPr>
              <a:t>理论基础</a:t>
            </a:r>
          </a:p>
          <a:p>
            <a:pPr marL="0" indent="457200">
              <a:lnSpc>
                <a:spcPct val="100000"/>
              </a:lnSpc>
              <a:spcBef>
                <a:spcPts val="0"/>
              </a:spcBef>
              <a:buNone/>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基于图像识别的木材识别方法，主要是通过对排列比较整齐的木材的图像进行处理来得到木材数量的一种方法。</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木材计数主要涉及</a:t>
            </a:r>
            <a:r>
              <a:rPr lang="zh-CN" altLang="en-US" sz="24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木材图像的采集，木材图像的处理，木材区域分割，木材聚类等步骤</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。目前</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对于圆木计数的方法</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主要有以下几种：</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457200">
              <a:lnSpc>
                <a:spcPct val="100000"/>
              </a:lnSpc>
              <a:spcBef>
                <a:spcPts val="0"/>
              </a:spcBef>
              <a:buNone/>
            </a:pPr>
            <a:r>
              <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基于</a:t>
            </a:r>
            <a:r>
              <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Hough</a:t>
            </a:r>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变换的圆形检测方法</a:t>
            </a:r>
          </a:p>
          <a:p>
            <a:pPr marL="0" indent="457200">
              <a:lnSpc>
                <a:spcPct val="100000"/>
              </a:lnSpc>
              <a:spcBef>
                <a:spcPts val="0"/>
              </a:spcBef>
              <a:buNone/>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此方法对于圆形度较好的圆形区域效果较好，</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对原木的形状提出较高的要求</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实用性较差。</a:t>
            </a:r>
          </a:p>
          <a:p>
            <a:pPr marL="0" indent="457200">
              <a:lnSpc>
                <a:spcPct val="100000"/>
              </a:lnSpc>
              <a:spcBef>
                <a:spcPts val="0"/>
              </a:spcBef>
              <a:buNone/>
            </a:pPr>
            <a:r>
              <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模板匹配法</a:t>
            </a:r>
          </a:p>
          <a:p>
            <a:pPr marL="0" indent="457200">
              <a:lnSpc>
                <a:spcPct val="100000"/>
              </a:lnSpc>
              <a:spcBef>
                <a:spcPts val="0"/>
              </a:spcBef>
              <a:buNone/>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模板匹配是一种利用</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圆木模板</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与待测图像进行匹配得到统计结果的方法</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模板匹配法的计算量以及存储量要求比较大</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，而且模板与待处理对象的形状也存在差异问题，</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适应性不是特别强</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p>
          <a:p>
            <a:pPr marL="0" indent="457200">
              <a:lnSpc>
                <a:spcPct val="100000"/>
              </a:lnSpc>
              <a:spcBef>
                <a:spcPts val="0"/>
              </a:spcBef>
              <a:buNone/>
            </a:pPr>
            <a:endPar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endParaRPr>
          </a:p>
          <a:p>
            <a:pPr marL="0" indent="457200">
              <a:lnSpc>
                <a:spcPct val="100000"/>
              </a:lnSpc>
              <a:spcBef>
                <a:spcPts val="0"/>
              </a:spcBef>
              <a:buNone/>
            </a:pPr>
            <a:endParaRPr lang="en-US" altLang="zh-CN" sz="2400" b="1" dirty="0">
              <a:ea typeface="宋体" panose="02010600030101010101" pitchFamily="2" charset="-122"/>
            </a:endParaRPr>
          </a:p>
          <a:p>
            <a:pPr marL="0" indent="0">
              <a:buFont typeface="Arial" panose="020B0604020202020204" pitchFamily="34" charset="0"/>
              <a:buNone/>
            </a:pPr>
            <a:endParaRPr lang="en-US" altLang="zh-CN" sz="2400" b="1" dirty="0">
              <a:solidFill>
                <a:srgbClr val="A42806"/>
              </a:solidFill>
              <a:ea typeface="Gulim" panose="020B0600000101010101" pitchFamily="34" charset="-127"/>
            </a:endParaRPr>
          </a:p>
        </p:txBody>
      </p:sp>
      <p:sp>
        <p:nvSpPr>
          <p:cNvPr id="10" name="Rectangle 2"/>
          <p:cNvSpPr txBox="1"/>
          <p:nvPr/>
        </p:nvSpPr>
        <p:spPr>
          <a:xfrm>
            <a:off x="1648460" y="260865"/>
            <a:ext cx="8895080" cy="720725"/>
          </a:xfrm>
        </p:spPr>
        <p:txBody>
          <a:bodyPr vert="horz" wrap="square" lIns="91440" tIns="45720" rIns="91440" bIns="45720"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案例</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3 </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圆木计数</a:t>
            </a:r>
            <a:br>
              <a:rPr lang="zh-CN" altLang="en-US" sz="2800" b="1" dirty="0">
                <a:ln w="0"/>
                <a:effectLst>
                  <a:outerShdw blurRad="38100" dist="19050" dir="2700000" algn="tl" rotWithShape="0">
                    <a:schemeClr val="dk1">
                      <a:alpha val="40000"/>
                    </a:schemeClr>
                  </a:outerShdw>
                </a:effectLst>
                <a:latin typeface="Times New Roman" panose="02020603050405020304" pitchFamily="18" charset="0"/>
                <a:ea typeface="微软雅黑" panose="020B0503020204020204" pitchFamily="34" charset="-122"/>
                <a:cs typeface="Times New Roman" panose="02020603050405020304" pitchFamily="18" charset="0"/>
              </a:rPr>
            </a:br>
            <a:endParaRPr lang="en-US" altLang="zh-CN" sz="2800" b="1" dirty="0">
              <a:ln w="0"/>
              <a:effectLst>
                <a:outerShdw blurRad="38100" dist="19050" dir="2700000" algn="tl" rotWithShape="0">
                  <a:schemeClr val="dk1">
                    <a:alpha val="40000"/>
                  </a:scheme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图片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600" y="0"/>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8" name="直接连接符 57"/>
          <p:cNvCxnSpPr/>
          <p:nvPr/>
        </p:nvCxnSpPr>
        <p:spPr>
          <a:xfrm>
            <a:off x="0" y="981590"/>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7" name="Rectangle 3"/>
          <p:cNvSpPr txBox="1"/>
          <p:nvPr/>
        </p:nvSpPr>
        <p:spPr>
          <a:xfrm>
            <a:off x="0" y="956705"/>
            <a:ext cx="12192000" cy="5768129"/>
          </a:xfr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50000"/>
              </a:lnSpc>
              <a:spcBef>
                <a:spcPts val="0"/>
              </a:spcBef>
              <a:buNone/>
            </a:pPr>
            <a:r>
              <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中心聚类的方法</a:t>
            </a:r>
          </a:p>
          <a:p>
            <a:pPr marL="0" indent="457200">
              <a:lnSpc>
                <a:spcPct val="150000"/>
              </a:lnSpc>
              <a:spcBef>
                <a:spcPts val="0"/>
              </a:spcBef>
              <a:buNone/>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该方法对图像边缘进行中心增强然后对中心进行聚类，此方法对于木材的半径以及圆形度要求较高，</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同样适应性不是特别的强</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p>
          <a:p>
            <a:pPr marL="0" indent="457200">
              <a:lnSpc>
                <a:spcPct val="150000"/>
              </a:lnSpc>
              <a:spcBef>
                <a:spcPts val="0"/>
              </a:spcBef>
              <a:buNone/>
            </a:pPr>
            <a:r>
              <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中心发散方法</a:t>
            </a:r>
          </a:p>
          <a:p>
            <a:pPr marL="0" indent="457200">
              <a:lnSpc>
                <a:spcPct val="150000"/>
              </a:lnSpc>
              <a:spcBef>
                <a:spcPts val="0"/>
              </a:spcBef>
              <a:buNone/>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该方法中以棒材为中心，逐层向四周进行检索，并逐步扩散，直到找到所有棒材为止，该方法速度较快，</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但是对于圆形棒材的直径要求较高，不能偏差太大</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p>
          <a:p>
            <a:pPr marL="0" indent="457200">
              <a:lnSpc>
                <a:spcPct val="150000"/>
              </a:lnSpc>
              <a:spcBef>
                <a:spcPts val="0"/>
              </a:spcBef>
              <a:buNone/>
            </a:pPr>
            <a:r>
              <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阈值分割方法</a:t>
            </a:r>
          </a:p>
          <a:p>
            <a:pPr marL="0" indent="457200">
              <a:lnSpc>
                <a:spcPct val="150000"/>
              </a:lnSpc>
              <a:spcBef>
                <a:spcPts val="0"/>
              </a:spcBef>
              <a:buNone/>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该方法通过对圆木图像通过阈值分割，并利用</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腐蚀等操作，分割出每个圆木区域</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进行统计，但是此方法</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对图像拍摄要求较高，干扰因素较大</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p>
          <a:p>
            <a:pPr marL="0" indent="457200">
              <a:lnSpc>
                <a:spcPct val="100000"/>
              </a:lnSpc>
              <a:spcBef>
                <a:spcPts val="0"/>
              </a:spcBef>
              <a:buNone/>
            </a:pP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0" indent="457200">
              <a:lnSpc>
                <a:spcPct val="100000"/>
              </a:lnSpc>
              <a:spcBef>
                <a:spcPts val="0"/>
              </a:spcBef>
              <a:buNone/>
            </a:pPr>
            <a:endParaRPr lang="en-US" altLang="zh-CN" sz="2400" b="1" dirty="0">
              <a:ea typeface="宋体" panose="02010600030101010101" pitchFamily="2" charset="-122"/>
            </a:endParaRPr>
          </a:p>
          <a:p>
            <a:pPr marL="0" indent="0">
              <a:buFont typeface="Arial" panose="020B0604020202020204" pitchFamily="34" charset="0"/>
              <a:buNone/>
            </a:pPr>
            <a:endParaRPr lang="en-US" altLang="zh-CN" sz="2400" b="1" dirty="0">
              <a:solidFill>
                <a:srgbClr val="A42806"/>
              </a:solidFill>
              <a:ea typeface="Gulim" panose="020B0600000101010101" pitchFamily="34" charset="-127"/>
            </a:endParaRPr>
          </a:p>
        </p:txBody>
      </p:sp>
      <p:sp>
        <p:nvSpPr>
          <p:cNvPr id="10" name="Rectangle 2"/>
          <p:cNvSpPr txBox="1"/>
          <p:nvPr/>
        </p:nvSpPr>
        <p:spPr>
          <a:xfrm>
            <a:off x="1648460" y="260865"/>
            <a:ext cx="8895080" cy="720725"/>
          </a:xfrm>
        </p:spPr>
        <p:txBody>
          <a:bodyPr vert="horz" wrap="square" lIns="91440" tIns="45720" rIns="91440" bIns="45720"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案例</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3 </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圆木计数</a:t>
            </a:r>
            <a:br>
              <a:rPr lang="zh-CN" altLang="en-US" sz="2800" b="1" dirty="0">
                <a:ln w="0"/>
                <a:effectLst>
                  <a:outerShdw blurRad="38100" dist="38100" dir="2700000" algn="tl">
                    <a:srgbClr val="000000">
                      <a:alpha val="43137"/>
                    </a:srgbClr>
                  </a:outerShdw>
                </a:effectLst>
                <a:ea typeface="宋体" panose="02010600030101010101" pitchFamily="2" charset="-122"/>
              </a:rPr>
            </a:br>
            <a:endParaRPr lang="en-US" altLang="zh-CN" sz="2800" b="1" dirty="0">
              <a:ln w="0"/>
              <a:effectLst>
                <a:outerShdw blurRad="38100" dist="38100" dir="2700000" algn="tl">
                  <a:srgbClr val="000000">
                    <a:alpha val="43137"/>
                  </a:srgbClr>
                </a:outerShdw>
              </a:effectLst>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图片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600" y="0"/>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8" name="直接连接符 57"/>
          <p:cNvCxnSpPr/>
          <p:nvPr/>
        </p:nvCxnSpPr>
        <p:spPr>
          <a:xfrm>
            <a:off x="0" y="981590"/>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7" name="Rectangle 3"/>
          <p:cNvSpPr txBox="1"/>
          <p:nvPr/>
        </p:nvSpPr>
        <p:spPr>
          <a:xfrm>
            <a:off x="0" y="981590"/>
            <a:ext cx="12118019" cy="2341545"/>
          </a:xfr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50000"/>
              </a:lnSpc>
              <a:spcBef>
                <a:spcPts val="0"/>
              </a:spcBef>
              <a:buNone/>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本案例对预处理后的图片</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首先提取背景区域，提取圆木区域二值图像，使用圆形霍夫变换寻找圆进行圆木计数</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。该方法对圆木形状要求不高，并有效解决了在室外拍摄光照条件不均等情况，具有较好的实用性以及可靠性。其技术路线如图</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14-10</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所示。</a:t>
            </a:r>
            <a:endParaRPr lang="en-US" altLang="zh-CN" sz="2400" dirty="0">
              <a:latin typeface="Times New Roman" panose="02020603050405020304" pitchFamily="18" charset="0"/>
              <a:ea typeface="微软雅黑" panose="020B0503020204020204" pitchFamily="34" charset="-122"/>
            </a:endParaRPr>
          </a:p>
          <a:p>
            <a:pPr marL="0" indent="0">
              <a:buFont typeface="Arial" panose="020B0604020202020204" pitchFamily="34" charset="0"/>
              <a:buNone/>
            </a:pPr>
            <a:endParaRPr lang="en-US" altLang="zh-CN" sz="2400" b="1" dirty="0">
              <a:solidFill>
                <a:srgbClr val="A42806"/>
              </a:solidFill>
              <a:ea typeface="Gulim" panose="020B0600000101010101" pitchFamily="34" charset="-127"/>
            </a:endParaRPr>
          </a:p>
        </p:txBody>
      </p:sp>
      <p:sp>
        <p:nvSpPr>
          <p:cNvPr id="10" name="Rectangle 2"/>
          <p:cNvSpPr txBox="1"/>
          <p:nvPr/>
        </p:nvSpPr>
        <p:spPr>
          <a:xfrm>
            <a:off x="1648460" y="260865"/>
            <a:ext cx="8895080" cy="720725"/>
          </a:xfrm>
        </p:spPr>
        <p:txBody>
          <a:bodyPr vert="horz" wrap="square" lIns="91440" tIns="45720" rIns="91440" bIns="45720"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案例</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3 </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圆木计数</a:t>
            </a:r>
            <a:br>
              <a:rPr lang="zh-CN" altLang="en-US" sz="2800" b="1" dirty="0">
                <a:ln w="0"/>
                <a:effectLst>
                  <a:outerShdw blurRad="38100" dist="38100" dir="2700000" algn="tl">
                    <a:srgbClr val="000000">
                      <a:alpha val="43137"/>
                    </a:srgbClr>
                  </a:outerShdw>
                </a:effectLst>
                <a:ea typeface="宋体" panose="02010600030101010101" pitchFamily="2" charset="-122"/>
              </a:rPr>
            </a:br>
            <a:endParaRPr lang="en-US" altLang="zh-CN" sz="2800" b="1" dirty="0">
              <a:ln w="0"/>
              <a:effectLst>
                <a:outerShdw blurRad="38100" dist="38100" dir="2700000" algn="tl">
                  <a:srgbClr val="000000">
                    <a:alpha val="43137"/>
                  </a:srgbClr>
                </a:outerShdw>
              </a:effectLst>
              <a:ea typeface="宋体" panose="02010600030101010101" pitchFamily="2" charset="-122"/>
            </a:endParaRPr>
          </a:p>
        </p:txBody>
      </p:sp>
      <p:sp>
        <p:nvSpPr>
          <p:cNvPr id="8" name="文本框 7"/>
          <p:cNvSpPr txBox="1"/>
          <p:nvPr/>
        </p:nvSpPr>
        <p:spPr>
          <a:xfrm>
            <a:off x="4146346" y="6488668"/>
            <a:ext cx="4154750" cy="369332"/>
          </a:xfrm>
          <a:prstGeom prst="rect">
            <a:avLst/>
          </a:prstGeom>
          <a:noFill/>
        </p:spPr>
        <p:txBody>
          <a:bodyPr wrap="square" rtlCol="0">
            <a:spAutoFit/>
          </a:bodyPr>
          <a:lstStyle/>
          <a:p>
            <a:pPr algn="ctr"/>
            <a:r>
              <a:rPr lang="zh-CN" altLang="en-US" dirty="0">
                <a:latin typeface="Times New Roman" panose="02020603050405020304" pitchFamily="18" charset="0"/>
                <a:ea typeface="微软雅黑" panose="020B0503020204020204" pitchFamily="34" charset="-122"/>
              </a:rPr>
              <a:t>图</a:t>
            </a:r>
            <a:r>
              <a:rPr lang="en-US" altLang="zh-CN" dirty="0">
                <a:latin typeface="Times New Roman" panose="02020603050405020304" pitchFamily="18" charset="0"/>
                <a:ea typeface="微软雅黑" panose="020B0503020204020204" pitchFamily="34" charset="-122"/>
              </a:rPr>
              <a:t>14-10 </a:t>
            </a:r>
            <a:r>
              <a:rPr lang="zh-CN" altLang="en-US" dirty="0">
                <a:latin typeface="Times New Roman" panose="02020603050405020304" pitchFamily="18" charset="0"/>
                <a:ea typeface="微软雅黑" panose="020B0503020204020204" pitchFamily="34" charset="-122"/>
              </a:rPr>
              <a:t>圆木计数路线图</a:t>
            </a:r>
          </a:p>
        </p:txBody>
      </p:sp>
      <p:pic>
        <p:nvPicPr>
          <p:cNvPr id="9" name="图片 8"/>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5333952" y="2816668"/>
            <a:ext cx="1779538" cy="3672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图片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600" y="0"/>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8" name="直接连接符 57"/>
          <p:cNvCxnSpPr/>
          <p:nvPr/>
        </p:nvCxnSpPr>
        <p:spPr>
          <a:xfrm>
            <a:off x="0" y="981590"/>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7" name="Rectangle 3"/>
          <p:cNvSpPr txBox="1"/>
          <p:nvPr/>
        </p:nvSpPr>
        <p:spPr>
          <a:xfrm>
            <a:off x="-373355" y="952070"/>
            <a:ext cx="12565355" cy="1169694"/>
          </a:xfr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indent="457200">
              <a:lnSpc>
                <a:spcPct val="100000"/>
              </a:lnSpc>
              <a:spcBef>
                <a:spcPts val="0"/>
              </a:spcBef>
              <a:buFont typeface="Wingdings" panose="05000000000000000000" pitchFamily="2" charset="2"/>
              <a:buChar char="l"/>
            </a:pPr>
            <a:r>
              <a:rPr lang="zh-CN" altLang="en-US" sz="2000" b="1" dirty="0">
                <a:solidFill>
                  <a:srgbClr val="FF0000"/>
                </a:solidFill>
                <a:latin typeface="Times New Roman" panose="02020603050405020304" pitchFamily="18" charset="0"/>
                <a:ea typeface="微软雅黑" panose="020B0503020204020204" pitchFamily="34" charset="-122"/>
              </a:rPr>
              <a:t>圆木提取</a:t>
            </a:r>
            <a:endParaRPr lang="en-US" altLang="zh-CN" sz="2000" b="1" dirty="0">
              <a:solidFill>
                <a:srgbClr val="FF0000"/>
              </a:solidFill>
              <a:latin typeface="Times New Roman" panose="02020603050405020304" pitchFamily="18" charset="0"/>
              <a:ea typeface="微软雅黑" panose="020B0503020204020204" pitchFamily="34" charset="-122"/>
            </a:endParaRPr>
          </a:p>
          <a:p>
            <a:pPr marL="571500" indent="457200">
              <a:lnSpc>
                <a:spcPct val="100000"/>
              </a:lnSpc>
              <a:spcBef>
                <a:spcPts val="0"/>
              </a:spcBef>
              <a:buNone/>
            </a:pPr>
            <a:r>
              <a:rPr lang="zh-CN" altLang="en-US" sz="2000" dirty="0">
                <a:latin typeface="Times New Roman" panose="02020603050405020304" pitchFamily="18" charset="0"/>
                <a:ea typeface="微软雅黑" panose="020B0503020204020204" pitchFamily="34" charset="-122"/>
              </a:rPr>
              <a:t>在圆木计数前，首先需要对圆木图像进行</a:t>
            </a:r>
            <a:r>
              <a:rPr lang="zh-CN" altLang="en-US" sz="2000" b="1" dirty="0">
                <a:solidFill>
                  <a:srgbClr val="0000FF"/>
                </a:solidFill>
                <a:latin typeface="Times New Roman" panose="02020603050405020304" pitchFamily="18" charset="0"/>
                <a:ea typeface="微软雅黑" panose="020B0503020204020204" pitchFamily="34" charset="-122"/>
              </a:rPr>
              <a:t>背景分割，提取圆木区域，消除无关背景带来的影响</a:t>
            </a:r>
            <a:r>
              <a:rPr lang="zh-CN" altLang="en-US" sz="2000" dirty="0">
                <a:latin typeface="Times New Roman" panose="02020603050405020304" pitchFamily="18" charset="0"/>
                <a:ea typeface="微软雅黑" panose="020B0503020204020204" pitchFamily="34" charset="-122"/>
              </a:rPr>
              <a:t>。圆木背景分割代码见下，提取效果如图</a:t>
            </a:r>
            <a:r>
              <a:rPr lang="en-US" altLang="zh-CN" sz="2000" dirty="0">
                <a:latin typeface="Times New Roman" panose="02020603050405020304" pitchFamily="18" charset="0"/>
                <a:ea typeface="微软雅黑" panose="020B0503020204020204" pitchFamily="34" charset="-122"/>
              </a:rPr>
              <a:t>14-11</a:t>
            </a:r>
            <a:r>
              <a:rPr lang="zh-CN" altLang="en-US" sz="2000" dirty="0">
                <a:latin typeface="Times New Roman" panose="02020603050405020304" pitchFamily="18" charset="0"/>
                <a:ea typeface="微软雅黑" panose="020B0503020204020204" pitchFamily="34" charset="-122"/>
              </a:rPr>
              <a:t>所示：</a:t>
            </a:r>
            <a:endParaRPr lang="en-US" altLang="zh-CN" sz="2000" dirty="0">
              <a:solidFill>
                <a:srgbClr val="A42806"/>
              </a:solidFill>
              <a:latin typeface="Times New Roman" panose="02020603050405020304" pitchFamily="18" charset="0"/>
              <a:ea typeface="微软雅黑" panose="020B0503020204020204" pitchFamily="34" charset="-122"/>
            </a:endParaRPr>
          </a:p>
        </p:txBody>
      </p:sp>
      <p:sp>
        <p:nvSpPr>
          <p:cNvPr id="2" name="文本框 1"/>
          <p:cNvSpPr txBox="1"/>
          <p:nvPr/>
        </p:nvSpPr>
        <p:spPr>
          <a:xfrm>
            <a:off x="-373355" y="2031315"/>
            <a:ext cx="11665257" cy="5078313"/>
          </a:xfrm>
          <a:prstGeom prst="rect">
            <a:avLst/>
          </a:prstGeom>
          <a:noFill/>
        </p:spPr>
        <p:txBody>
          <a:bodyPr wrap="square" rtlCol="0">
            <a:spAutoFit/>
          </a:bodyPr>
          <a:lstStyle/>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圆木背景分分割</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clear all;</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close all;</a:t>
            </a:r>
          </a:p>
          <a:p>
            <a:pPr indent="457200"/>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clc</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imread</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('C:\Users\12504\Desktop\</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图书编写</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圆木计数</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圆木</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3.jpg');</a:t>
            </a:r>
          </a:p>
          <a:p>
            <a:pPr indent="457200"/>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figure,subplot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(121),</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imshow</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(I);title('</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原始图像</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p>
          <a:p>
            <a:pPr indent="457200"/>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Ir</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=I(:,:,1);Ig=I(:,:,2);</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Ib</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=I(:,:,3);</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figure,imshow</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Ir</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%figure,</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%subplot(1,3,1),</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imshow</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Ir</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),title('R</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通道图</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%subplot(1,3,2),</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imshow</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(Ig),title('G</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通道图</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%subplot(1,3,3),</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imshow</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Ir</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),title('B</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通道图</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%figure,</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%subplot(1,3,1),</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imhist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Ir</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),title('R</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通道灰度直方图</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%subplot(1,3,2),</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imhist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(Ig),title('G</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通道灰度直方图</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%subplot(1,3,3),</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imhist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Ib</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),title('B</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通道灰度直方图</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imtool</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Ib</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p>
          <a:p>
            <a:endParaRPr lang="zh-CN" altLang="en-US" dirty="0"/>
          </a:p>
        </p:txBody>
      </p:sp>
      <p:sp>
        <p:nvSpPr>
          <p:cNvPr id="8" name="Rectangle 2"/>
          <p:cNvSpPr txBox="1"/>
          <p:nvPr/>
        </p:nvSpPr>
        <p:spPr>
          <a:xfrm>
            <a:off x="1648460" y="260865"/>
            <a:ext cx="8895080" cy="720725"/>
          </a:xfrm>
        </p:spPr>
        <p:txBody>
          <a:bodyPr vert="horz" wrap="square" lIns="91440" tIns="45720" rIns="91440" bIns="45720"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案例</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3 </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圆木计数</a:t>
            </a:r>
            <a:br>
              <a:rPr lang="zh-CN" altLang="en-US" sz="2800" b="1" dirty="0">
                <a:ln w="0"/>
                <a:effectLst>
                  <a:outerShdw blurRad="38100" dist="38100" dir="2700000" algn="tl">
                    <a:srgbClr val="000000">
                      <a:alpha val="43137"/>
                    </a:srgbClr>
                  </a:outerShdw>
                </a:effectLst>
                <a:ea typeface="宋体" panose="02010600030101010101" pitchFamily="2" charset="-122"/>
              </a:rPr>
            </a:br>
            <a:endParaRPr lang="en-US" altLang="zh-CN" sz="2800" b="1" dirty="0">
              <a:ln w="0"/>
              <a:effectLst>
                <a:outerShdw blurRad="38100" dist="38100" dir="2700000" algn="tl">
                  <a:srgbClr val="000000">
                    <a:alpha val="43137"/>
                  </a:srgbClr>
                </a:outerShdw>
              </a:effectLst>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图片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600" y="0"/>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8" name="直接连接符 57"/>
          <p:cNvCxnSpPr/>
          <p:nvPr/>
        </p:nvCxnSpPr>
        <p:spPr>
          <a:xfrm>
            <a:off x="0" y="981590"/>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7" name="Rectangle 3"/>
          <p:cNvSpPr txBox="1"/>
          <p:nvPr/>
        </p:nvSpPr>
        <p:spPr>
          <a:xfrm>
            <a:off x="-373355" y="952070"/>
            <a:ext cx="12565355" cy="1169694"/>
          </a:xfr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indent="457200">
              <a:lnSpc>
                <a:spcPct val="100000"/>
              </a:lnSpc>
              <a:spcBef>
                <a:spcPts val="0"/>
              </a:spcBef>
              <a:buFont typeface="Wingdings" panose="05000000000000000000" pitchFamily="2" charset="2"/>
              <a:buChar char="l"/>
            </a:pPr>
            <a:endParaRPr lang="en-US" altLang="zh-CN" sz="2000" b="1" dirty="0">
              <a:solidFill>
                <a:srgbClr val="A42806"/>
              </a:solidFill>
              <a:ea typeface="Gulim" panose="020B0600000101010101" pitchFamily="34" charset="-127"/>
            </a:endParaRPr>
          </a:p>
        </p:txBody>
      </p:sp>
      <p:sp>
        <p:nvSpPr>
          <p:cNvPr id="2" name="文本框 1"/>
          <p:cNvSpPr txBox="1"/>
          <p:nvPr/>
        </p:nvSpPr>
        <p:spPr>
          <a:xfrm>
            <a:off x="632460" y="952070"/>
            <a:ext cx="8647343" cy="3139321"/>
          </a:xfrm>
          <a:prstGeom prst="rect">
            <a:avLst/>
          </a:prstGeom>
          <a:noFill/>
        </p:spPr>
        <p:txBody>
          <a:bodyPr wrap="square" rtlCol="0">
            <a:spAutoFit/>
          </a:bodyPr>
          <a:lstStyle/>
          <a:p>
            <a:pPr indent="457200"/>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Ib_BW</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roicolor</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Ib</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,[20,100]);</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figure,subplot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(1,4,1),</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imshow</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Ib_BW</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),title('</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颜色范围选取</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p>
          <a:p>
            <a:pPr indent="457200"/>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I_rb</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Ir-Ib</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%subplot(1,4,2),</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imshow</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I_rb</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),title('R-B</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通道</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p>
          <a:p>
            <a:pPr indent="457200"/>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I_rb_BW</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im2bw</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I_rb,graythresh</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I_rb</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%subplot(1,4,3),</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imshow</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I_rb_BW</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),title('</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通道转差二值图像</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p>
          <a:p>
            <a:pPr indent="457200"/>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I_rb_BWfill</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imfill</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I_rb_BW,'holes</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%subplot(1,4,4),</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imshow</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I_rb_BWfill</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),title('</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空洞填充二值图像</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Obj=</a:t>
            </a:r>
            <a:r>
              <a:rPr lang="en-US" altLang="zh-CN"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uint8(</a:t>
            </a:r>
            <a:r>
              <a:rPr lang="en-US" altLang="zh-CN" b="1"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I_rb_BWfill</a:t>
            </a:r>
            <a:r>
              <a:rPr lang="en-US" altLang="zh-CN"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).*I*1.2;</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subplot(122),</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imshow</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(Obj);title('</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圆木提取</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p>
          <a:p>
            <a:endParaRPr lang="zh-CN" altLang="en-US" dirty="0"/>
          </a:p>
        </p:txBody>
      </p:sp>
      <p:sp>
        <p:nvSpPr>
          <p:cNvPr id="9" name="文本框 8"/>
          <p:cNvSpPr txBox="1"/>
          <p:nvPr/>
        </p:nvSpPr>
        <p:spPr>
          <a:xfrm>
            <a:off x="3722615" y="6412469"/>
            <a:ext cx="4154750" cy="369332"/>
          </a:xfrm>
          <a:prstGeom prst="rect">
            <a:avLst/>
          </a:prstGeom>
          <a:noFill/>
        </p:spPr>
        <p:txBody>
          <a:bodyPr wrap="square" rtlCol="0">
            <a:spAutoFit/>
          </a:bodyPr>
          <a:lstStyle/>
          <a:p>
            <a:pPr algn="ctr"/>
            <a:r>
              <a:rPr lang="zh-CN" altLang="en-US" dirty="0">
                <a:latin typeface="Times New Roman" panose="02020603050405020304" pitchFamily="18" charset="0"/>
                <a:ea typeface="微软雅黑" panose="020B0503020204020204" pitchFamily="34" charset="-122"/>
              </a:rPr>
              <a:t>图</a:t>
            </a:r>
            <a:r>
              <a:rPr lang="en-US" altLang="zh-CN" dirty="0">
                <a:latin typeface="Times New Roman" panose="02020603050405020304" pitchFamily="18" charset="0"/>
                <a:ea typeface="微软雅黑" panose="020B0503020204020204" pitchFamily="34" charset="-122"/>
              </a:rPr>
              <a:t>14-11 </a:t>
            </a:r>
            <a:r>
              <a:rPr lang="zh-CN" altLang="en-US" dirty="0">
                <a:latin typeface="Times New Roman" panose="02020603050405020304" pitchFamily="18" charset="0"/>
                <a:ea typeface="微软雅黑" panose="020B0503020204020204" pitchFamily="34" charset="-122"/>
              </a:rPr>
              <a:t>圆木提取结果</a:t>
            </a:r>
          </a:p>
        </p:txBody>
      </p:sp>
      <p:sp>
        <p:nvSpPr>
          <p:cNvPr id="11" name="Rectangle 2"/>
          <p:cNvSpPr txBox="1"/>
          <p:nvPr/>
        </p:nvSpPr>
        <p:spPr>
          <a:xfrm>
            <a:off x="1648460" y="260865"/>
            <a:ext cx="8895080" cy="720725"/>
          </a:xfrm>
        </p:spPr>
        <p:txBody>
          <a:bodyPr vert="horz" wrap="square" lIns="91440" tIns="45720" rIns="91440" bIns="45720"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案例</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3 </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圆木计数</a:t>
            </a:r>
            <a:br>
              <a:rPr lang="zh-CN" altLang="en-US" sz="2800" b="1" dirty="0">
                <a:ln w="0"/>
                <a:effectLst>
                  <a:outerShdw blurRad="38100" dist="38100" dir="2700000" algn="tl">
                    <a:srgbClr val="000000">
                      <a:alpha val="43137"/>
                    </a:srgbClr>
                  </a:outerShdw>
                </a:effectLst>
                <a:ea typeface="宋体" panose="02010600030101010101" pitchFamily="2" charset="-122"/>
              </a:rPr>
            </a:br>
            <a:endParaRPr lang="en-US" altLang="zh-CN" sz="2800" b="1" dirty="0">
              <a:ln w="0"/>
              <a:effectLst>
                <a:outerShdw blurRad="38100" dist="38100" dir="2700000" algn="tl">
                  <a:srgbClr val="000000">
                    <a:alpha val="43137"/>
                  </a:srgbClr>
                </a:outerShdw>
              </a:effectLst>
              <a:ea typeface="宋体" panose="02010600030101010101" pitchFamily="2" charset="-122"/>
            </a:endParaRPr>
          </a:p>
        </p:txBody>
      </p:sp>
      <p:pic>
        <p:nvPicPr>
          <p:cNvPr id="12" name="图片 11"/>
          <p:cNvPicPr/>
          <p:nvPr/>
        </p:nvPicPr>
        <p:blipFill>
          <a:blip r:embed="rId4" cstate="print"/>
          <a:stretch>
            <a:fillRect/>
          </a:stretch>
        </p:blipFill>
        <p:spPr>
          <a:xfrm>
            <a:off x="2157274" y="3755254"/>
            <a:ext cx="7122529" cy="252125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图片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600" y="0"/>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8" name="直接连接符 57"/>
          <p:cNvCxnSpPr/>
          <p:nvPr/>
        </p:nvCxnSpPr>
        <p:spPr>
          <a:xfrm>
            <a:off x="0" y="981590"/>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7" name="Rectangle 3"/>
          <p:cNvSpPr txBox="1"/>
          <p:nvPr/>
        </p:nvSpPr>
        <p:spPr>
          <a:xfrm>
            <a:off x="-373355" y="952069"/>
            <a:ext cx="12565355" cy="5905931"/>
          </a:xfr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indent="457200">
              <a:lnSpc>
                <a:spcPct val="100000"/>
              </a:lnSpc>
              <a:spcBef>
                <a:spcPts val="0"/>
              </a:spcBef>
              <a:buFont typeface="Wingdings" panose="05000000000000000000" pitchFamily="2" charset="2"/>
              <a:buChar char="l"/>
            </a:pPr>
            <a:r>
              <a:rPr lang="zh-CN" altLang="en-US" sz="2400" b="1" dirty="0">
                <a:solidFill>
                  <a:srgbClr val="FF0000"/>
                </a:solidFill>
                <a:latin typeface="Times New Roman" panose="02020603050405020304" pitchFamily="18" charset="0"/>
                <a:ea typeface="微软雅黑" panose="020B0503020204020204" pitchFamily="34" charset="-122"/>
              </a:rPr>
              <a:t>圆木计数</a:t>
            </a:r>
            <a:endParaRPr lang="en-US" altLang="zh-CN" sz="2400" b="1" dirty="0">
              <a:solidFill>
                <a:srgbClr val="FF0000"/>
              </a:solidFill>
              <a:latin typeface="Times New Roman" panose="02020603050405020304" pitchFamily="18" charset="0"/>
              <a:ea typeface="微软雅黑" panose="020B0503020204020204" pitchFamily="34" charset="-122"/>
            </a:endParaRPr>
          </a:p>
          <a:p>
            <a:pPr marL="571500" indent="457200">
              <a:lnSpc>
                <a:spcPct val="100000"/>
              </a:lnSpc>
              <a:spcBef>
                <a:spcPts val="0"/>
              </a:spcBef>
              <a:buNone/>
            </a:pPr>
            <a:r>
              <a:rPr lang="en-US" altLang="zh-CN" sz="2400" dirty="0" err="1">
                <a:solidFill>
                  <a:srgbClr val="FF0000"/>
                </a:solidFill>
                <a:latin typeface="Times New Roman" panose="02020603050405020304" pitchFamily="18" charset="0"/>
                <a:ea typeface="微软雅黑" panose="020B0503020204020204" pitchFamily="34" charset="-122"/>
              </a:rPr>
              <a:t>imfindcircles</a:t>
            </a:r>
            <a:r>
              <a:rPr lang="zh-CN" altLang="en-US" sz="2400" dirty="0">
                <a:solidFill>
                  <a:srgbClr val="FF0000"/>
                </a:solidFill>
                <a:latin typeface="Times New Roman" panose="02020603050405020304" pitchFamily="18" charset="0"/>
                <a:ea typeface="微软雅黑" panose="020B0503020204020204" pitchFamily="34" charset="-122"/>
              </a:rPr>
              <a:t>函数</a:t>
            </a:r>
          </a:p>
          <a:p>
            <a:pPr marL="571500" indent="457200">
              <a:lnSpc>
                <a:spcPct val="100000"/>
              </a:lnSpc>
              <a:spcBef>
                <a:spcPts val="0"/>
              </a:spcBef>
              <a:buNone/>
            </a:pPr>
            <a:r>
              <a:rPr lang="en-US" altLang="zh-CN" sz="2400" dirty="0" err="1">
                <a:latin typeface="Times New Roman" panose="02020603050405020304" pitchFamily="18" charset="0"/>
                <a:ea typeface="微软雅黑" panose="020B0503020204020204" pitchFamily="34" charset="-122"/>
              </a:rPr>
              <a:t>imfindcircles</a:t>
            </a:r>
            <a:r>
              <a:rPr lang="zh-CN" altLang="en-US" sz="2400" dirty="0">
                <a:latin typeface="Times New Roman" panose="02020603050405020304" pitchFamily="18" charset="0"/>
                <a:ea typeface="微软雅黑" panose="020B0503020204020204" pitchFamily="34" charset="-122"/>
              </a:rPr>
              <a:t>函数的功能是</a:t>
            </a:r>
            <a:r>
              <a:rPr lang="zh-CN" altLang="en-US" sz="2400" b="1" dirty="0">
                <a:solidFill>
                  <a:srgbClr val="0000FF"/>
                </a:solidFill>
                <a:latin typeface="Times New Roman" panose="02020603050405020304" pitchFamily="18" charset="0"/>
                <a:ea typeface="微软雅黑" panose="020B0503020204020204" pitchFamily="34" charset="-122"/>
              </a:rPr>
              <a:t>使用圆形霍夫变换寻找圆</a:t>
            </a:r>
            <a:r>
              <a:rPr lang="zh-CN" altLang="en-US" sz="2400" dirty="0">
                <a:latin typeface="Times New Roman" panose="02020603050405020304" pitchFamily="18" charset="0"/>
                <a:ea typeface="微软雅黑" panose="020B0503020204020204" pitchFamily="34" charset="-122"/>
              </a:rPr>
              <a:t>。</a:t>
            </a:r>
            <a:endParaRPr lang="en-US" altLang="zh-CN" sz="2400" dirty="0">
              <a:latin typeface="Times New Roman" panose="02020603050405020304" pitchFamily="18" charset="0"/>
              <a:ea typeface="微软雅黑" panose="020B0503020204020204" pitchFamily="34" charset="-122"/>
            </a:endParaRPr>
          </a:p>
          <a:p>
            <a:pPr marL="571500" indent="457200">
              <a:lnSpc>
                <a:spcPct val="100000"/>
              </a:lnSpc>
              <a:spcBef>
                <a:spcPts val="0"/>
              </a:spcBef>
              <a:buNone/>
            </a:pPr>
            <a:r>
              <a:rPr lang="zh-CN" altLang="en-US" sz="2400" dirty="0">
                <a:latin typeface="Times New Roman" panose="02020603050405020304" pitchFamily="18" charset="0"/>
                <a:ea typeface="微软雅黑" panose="020B0503020204020204" pitchFamily="34" charset="-122"/>
              </a:rPr>
              <a:t>下面给出了几种</a:t>
            </a:r>
            <a:r>
              <a:rPr lang="en-US" altLang="zh-CN" sz="2400" dirty="0" err="1">
                <a:latin typeface="Times New Roman" panose="02020603050405020304" pitchFamily="18" charset="0"/>
                <a:ea typeface="微软雅黑" panose="020B0503020204020204" pitchFamily="34" charset="-122"/>
              </a:rPr>
              <a:t>imfindcircles</a:t>
            </a:r>
            <a:r>
              <a:rPr lang="zh-CN" altLang="en-US" sz="2400" dirty="0">
                <a:latin typeface="Times New Roman" panose="02020603050405020304" pitchFamily="18" charset="0"/>
                <a:ea typeface="微软雅黑" panose="020B0503020204020204" pitchFamily="34" charset="-122"/>
              </a:rPr>
              <a:t>函数示例说明。</a:t>
            </a:r>
          </a:p>
          <a:p>
            <a:pPr marL="1028700" indent="-457200">
              <a:lnSpc>
                <a:spcPct val="100000"/>
              </a:lnSpc>
              <a:spcBef>
                <a:spcPts val="0"/>
              </a:spcBef>
              <a:buAutoNum type="alphaLcParenR"/>
            </a:pPr>
            <a:r>
              <a:rPr lang="en-US" altLang="zh-CN" sz="2400" dirty="0">
                <a:latin typeface="Times New Roman" panose="02020603050405020304" pitchFamily="18" charset="0"/>
                <a:ea typeface="微软雅黑" panose="020B0503020204020204" pitchFamily="34" charset="-122"/>
              </a:rPr>
              <a:t>centers = </a:t>
            </a:r>
            <a:r>
              <a:rPr lang="en-US" altLang="zh-CN" sz="2400" b="1" dirty="0" err="1">
                <a:solidFill>
                  <a:srgbClr val="0000FF"/>
                </a:solidFill>
                <a:latin typeface="Times New Roman" panose="02020603050405020304" pitchFamily="18" charset="0"/>
                <a:ea typeface="微软雅黑" panose="020B0503020204020204" pitchFamily="34" charset="-122"/>
              </a:rPr>
              <a:t>imfindcircles</a:t>
            </a: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A</a:t>
            </a: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radius</a:t>
            </a:r>
            <a:r>
              <a:rPr lang="zh-CN" altLang="en-US" sz="2400" dirty="0">
                <a:latin typeface="Times New Roman" panose="02020603050405020304" pitchFamily="18" charset="0"/>
                <a:ea typeface="微软雅黑" panose="020B0503020204020204" pitchFamily="34" charset="-122"/>
              </a:rPr>
              <a:t>）在图像</a:t>
            </a:r>
            <a:r>
              <a:rPr lang="en-US" altLang="zh-CN" sz="2400" dirty="0">
                <a:latin typeface="Times New Roman" panose="02020603050405020304" pitchFamily="18" charset="0"/>
                <a:ea typeface="微软雅黑" panose="020B0503020204020204" pitchFamily="34" charset="-122"/>
              </a:rPr>
              <a:t>A</a:t>
            </a:r>
            <a:r>
              <a:rPr lang="zh-CN" altLang="en-US" sz="2400" dirty="0">
                <a:latin typeface="Times New Roman" panose="02020603050405020304" pitchFamily="18" charset="0"/>
                <a:ea typeface="微软雅黑" panose="020B0503020204020204" pitchFamily="34" charset="-122"/>
              </a:rPr>
              <a:t>中找到半径近似等于半径的圆。 中心的</a:t>
            </a:r>
            <a:r>
              <a:rPr lang="zh-CN" altLang="en-US" sz="2400" b="1" dirty="0">
                <a:latin typeface="Times New Roman" panose="02020603050405020304" pitchFamily="18" charset="0"/>
                <a:ea typeface="微软雅黑" panose="020B0503020204020204" pitchFamily="34" charset="-122"/>
              </a:rPr>
              <a:t>输出是一个两列的矩阵，其中包含图像中圆心的（</a:t>
            </a:r>
            <a:r>
              <a:rPr lang="en-US" altLang="zh-CN" sz="2400" b="1" dirty="0">
                <a:latin typeface="Times New Roman" panose="02020603050405020304" pitchFamily="18" charset="0"/>
                <a:ea typeface="微软雅黑" panose="020B0503020204020204" pitchFamily="34" charset="-122"/>
              </a:rPr>
              <a:t>x</a:t>
            </a:r>
            <a:r>
              <a:rPr lang="zh-CN" altLang="en-US" sz="2400" b="1" dirty="0">
                <a:latin typeface="Times New Roman" panose="02020603050405020304" pitchFamily="18" charset="0"/>
                <a:ea typeface="微软雅黑" panose="020B0503020204020204" pitchFamily="34" charset="-122"/>
              </a:rPr>
              <a:t>，</a:t>
            </a:r>
            <a:r>
              <a:rPr lang="en-US" altLang="zh-CN" sz="2400" b="1" dirty="0">
                <a:latin typeface="Times New Roman" panose="02020603050405020304" pitchFamily="18" charset="0"/>
                <a:ea typeface="微软雅黑" panose="020B0503020204020204" pitchFamily="34" charset="-122"/>
              </a:rPr>
              <a:t>y</a:t>
            </a:r>
            <a:r>
              <a:rPr lang="zh-CN" altLang="en-US" sz="2400" b="1" dirty="0">
                <a:latin typeface="Times New Roman" panose="02020603050405020304" pitchFamily="18" charset="0"/>
                <a:ea typeface="微软雅黑" panose="020B0503020204020204" pitchFamily="34" charset="-122"/>
              </a:rPr>
              <a:t>）坐标。</a:t>
            </a:r>
            <a:endParaRPr lang="en-US" altLang="zh-CN" sz="2400" b="1" dirty="0">
              <a:latin typeface="Times New Roman" panose="02020603050405020304" pitchFamily="18" charset="0"/>
              <a:ea typeface="微软雅黑" panose="020B0503020204020204" pitchFamily="34" charset="-122"/>
            </a:endParaRPr>
          </a:p>
          <a:p>
            <a:pPr marL="571500" indent="0">
              <a:lnSpc>
                <a:spcPct val="100000"/>
              </a:lnSpc>
              <a:spcBef>
                <a:spcPts val="0"/>
              </a:spcBef>
              <a:buNone/>
            </a:pPr>
            <a:endParaRPr lang="zh-CN" altLang="en-US" sz="2400" dirty="0">
              <a:latin typeface="Times New Roman" panose="02020603050405020304" pitchFamily="18" charset="0"/>
              <a:ea typeface="微软雅黑" panose="020B0503020204020204" pitchFamily="34" charset="-122"/>
            </a:endParaRPr>
          </a:p>
          <a:p>
            <a:pPr marL="1028700" indent="-457200">
              <a:lnSpc>
                <a:spcPct val="100000"/>
              </a:lnSpc>
              <a:spcBef>
                <a:spcPts val="0"/>
              </a:spcBef>
              <a:buAutoNum type="alphaLcParenR" startAt="2"/>
            </a:pPr>
            <a:r>
              <a:rPr lang="en-US" altLang="zh-CN" sz="2400" dirty="0">
                <a:latin typeface="Times New Roman" panose="02020603050405020304" pitchFamily="18" charset="0"/>
                <a:ea typeface="微软雅黑" panose="020B0503020204020204" pitchFamily="34" charset="-122"/>
              </a:rPr>
              <a:t>[centers</a:t>
            </a: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radii] = </a:t>
            </a:r>
            <a:r>
              <a:rPr lang="en-US" altLang="zh-CN" sz="2400" b="1" dirty="0" err="1">
                <a:solidFill>
                  <a:srgbClr val="0000FF"/>
                </a:solidFill>
                <a:latin typeface="Times New Roman" panose="02020603050405020304" pitchFamily="18" charset="0"/>
                <a:ea typeface="微软雅黑" panose="020B0503020204020204" pitchFamily="34" charset="-122"/>
              </a:rPr>
              <a:t>imfindcircles</a:t>
            </a: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A</a:t>
            </a:r>
            <a:r>
              <a:rPr lang="zh-CN" altLang="en-US" sz="2400" dirty="0">
                <a:latin typeface="Times New Roman" panose="02020603050405020304" pitchFamily="18" charset="0"/>
                <a:ea typeface="微软雅黑" panose="020B0503020204020204" pitchFamily="34" charset="-122"/>
              </a:rPr>
              <a:t>，</a:t>
            </a:r>
            <a:r>
              <a:rPr lang="en-US" altLang="zh-CN" sz="2400" dirty="0" err="1">
                <a:latin typeface="Times New Roman" panose="02020603050405020304" pitchFamily="18" charset="0"/>
                <a:ea typeface="微软雅黑" panose="020B0503020204020204" pitchFamily="34" charset="-122"/>
              </a:rPr>
              <a:t>radiusRange</a:t>
            </a:r>
            <a:r>
              <a:rPr lang="zh-CN" altLang="en-US" sz="2400" dirty="0">
                <a:latin typeface="Times New Roman" panose="02020603050405020304" pitchFamily="18" charset="0"/>
                <a:ea typeface="微软雅黑" panose="020B0503020204020204" pitchFamily="34" charset="-122"/>
              </a:rPr>
              <a:t>）查找</a:t>
            </a:r>
            <a:r>
              <a:rPr lang="zh-CN" altLang="en-US" sz="2400" b="1" dirty="0">
                <a:latin typeface="Times New Roman" panose="02020603050405020304" pitchFamily="18" charset="0"/>
                <a:ea typeface="微软雅黑" panose="020B0503020204020204" pitchFamily="34" charset="-122"/>
              </a:rPr>
              <a:t>半径在</a:t>
            </a:r>
            <a:r>
              <a:rPr lang="en-US" altLang="zh-CN" sz="2400" b="1" dirty="0" err="1">
                <a:latin typeface="Times New Roman" panose="02020603050405020304" pitchFamily="18" charset="0"/>
                <a:ea typeface="微软雅黑" panose="020B0503020204020204" pitchFamily="34" charset="-122"/>
              </a:rPr>
              <a:t>radiusRange</a:t>
            </a:r>
            <a:r>
              <a:rPr lang="zh-CN" altLang="en-US" sz="2400" b="1" dirty="0">
                <a:latin typeface="Times New Roman" panose="02020603050405020304" pitchFamily="18" charset="0"/>
                <a:ea typeface="微软雅黑" panose="020B0503020204020204" pitchFamily="34" charset="-122"/>
              </a:rPr>
              <a:t>指定范围内的圆</a:t>
            </a:r>
            <a:r>
              <a:rPr lang="zh-CN" altLang="en-US" sz="2400" dirty="0">
                <a:latin typeface="Times New Roman" panose="02020603050405020304" pitchFamily="18" charset="0"/>
                <a:ea typeface="微软雅黑" panose="020B0503020204020204" pitchFamily="34" charset="-122"/>
              </a:rPr>
              <a:t>。附加输出参数</a:t>
            </a:r>
            <a:r>
              <a:rPr lang="en-US" altLang="zh-CN" sz="2400" dirty="0">
                <a:latin typeface="Times New Roman" panose="02020603050405020304" pitchFamily="18" charset="0"/>
                <a:ea typeface="微软雅黑" panose="020B0503020204020204" pitchFamily="34" charset="-122"/>
              </a:rPr>
              <a:t>radii</a:t>
            </a:r>
            <a:r>
              <a:rPr lang="zh-CN" altLang="en-US" sz="2400" dirty="0">
                <a:latin typeface="Times New Roman" panose="02020603050405020304" pitchFamily="18" charset="0"/>
                <a:ea typeface="微软雅黑" panose="020B0503020204020204" pitchFamily="34" charset="-122"/>
              </a:rPr>
              <a:t>包含与中心中每个圆心相对应的估计半径。</a:t>
            </a:r>
            <a:endParaRPr lang="en-US" altLang="zh-CN" sz="2400" dirty="0">
              <a:latin typeface="Times New Roman" panose="02020603050405020304" pitchFamily="18" charset="0"/>
              <a:ea typeface="微软雅黑" panose="020B0503020204020204" pitchFamily="34" charset="-122"/>
            </a:endParaRPr>
          </a:p>
          <a:p>
            <a:pPr marL="1028700" indent="-457200">
              <a:lnSpc>
                <a:spcPct val="100000"/>
              </a:lnSpc>
              <a:spcBef>
                <a:spcPts val="0"/>
              </a:spcBef>
              <a:buAutoNum type="alphaLcParenR" startAt="2"/>
            </a:pPr>
            <a:endParaRPr lang="zh-CN" altLang="en-US" sz="2400" dirty="0">
              <a:latin typeface="Times New Roman" panose="02020603050405020304" pitchFamily="18" charset="0"/>
              <a:ea typeface="微软雅黑" panose="020B0503020204020204" pitchFamily="34" charset="-122"/>
            </a:endParaRPr>
          </a:p>
          <a:p>
            <a:pPr marL="1028700" indent="-457200">
              <a:lnSpc>
                <a:spcPct val="100000"/>
              </a:lnSpc>
              <a:spcBef>
                <a:spcPts val="0"/>
              </a:spcBef>
              <a:buAutoNum type="alphaLcParenR" startAt="3"/>
            </a:pPr>
            <a:r>
              <a:rPr lang="en-US" altLang="zh-CN" sz="2400" dirty="0">
                <a:latin typeface="Times New Roman" panose="02020603050405020304" pitchFamily="18" charset="0"/>
                <a:ea typeface="微软雅黑" panose="020B0503020204020204" pitchFamily="34" charset="-122"/>
              </a:rPr>
              <a:t>[centers</a:t>
            </a: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radii</a:t>
            </a: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metric] = </a:t>
            </a:r>
            <a:r>
              <a:rPr lang="en-US" altLang="zh-CN" sz="2400" b="1" dirty="0" err="1">
                <a:solidFill>
                  <a:srgbClr val="0000FF"/>
                </a:solidFill>
                <a:latin typeface="Times New Roman" panose="02020603050405020304" pitchFamily="18" charset="0"/>
                <a:ea typeface="微软雅黑" panose="020B0503020204020204" pitchFamily="34" charset="-122"/>
              </a:rPr>
              <a:t>imfindcircles</a:t>
            </a: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A</a:t>
            </a:r>
            <a:r>
              <a:rPr lang="zh-CN" altLang="en-US" sz="2400" dirty="0">
                <a:latin typeface="Times New Roman" panose="02020603050405020304" pitchFamily="18" charset="0"/>
                <a:ea typeface="微软雅黑" panose="020B0503020204020204" pitchFamily="34" charset="-122"/>
              </a:rPr>
              <a:t>，</a:t>
            </a:r>
            <a:r>
              <a:rPr lang="en-US" altLang="zh-CN" sz="2400" dirty="0" err="1">
                <a:latin typeface="Times New Roman" panose="02020603050405020304" pitchFamily="18" charset="0"/>
                <a:ea typeface="微软雅黑" panose="020B0503020204020204" pitchFamily="34" charset="-122"/>
              </a:rPr>
              <a:t>radiusRange</a:t>
            </a:r>
            <a:r>
              <a:rPr lang="zh-CN" altLang="en-US" sz="2400" dirty="0">
                <a:latin typeface="Times New Roman" panose="02020603050405020304" pitchFamily="18" charset="0"/>
                <a:ea typeface="微软雅黑" panose="020B0503020204020204" pitchFamily="34" charset="-122"/>
              </a:rPr>
              <a:t>）还返回一个列向量</a:t>
            </a:r>
            <a:r>
              <a:rPr lang="en-US" altLang="zh-CN" sz="2400" dirty="0">
                <a:latin typeface="Times New Roman" panose="02020603050405020304" pitchFamily="18" charset="0"/>
                <a:ea typeface="微软雅黑" panose="020B0503020204020204" pitchFamily="34" charset="-122"/>
              </a:rPr>
              <a:t>metric</a:t>
            </a:r>
            <a:r>
              <a:rPr lang="zh-CN" altLang="en-US" sz="2400" dirty="0">
                <a:latin typeface="Times New Roman" panose="02020603050405020304" pitchFamily="18" charset="0"/>
                <a:ea typeface="微软雅黑" panose="020B0503020204020204" pitchFamily="34" charset="-122"/>
              </a:rPr>
              <a:t>，其中包含每个圆的累加器阵列峰值的大小（降序排列）。 中心行和半径行对应于公制行。</a:t>
            </a:r>
            <a:endParaRPr lang="en-US" altLang="zh-CN" sz="2400" dirty="0">
              <a:latin typeface="Times New Roman" panose="02020603050405020304" pitchFamily="18" charset="0"/>
              <a:ea typeface="微软雅黑" panose="020B0503020204020204" pitchFamily="34" charset="-122"/>
            </a:endParaRPr>
          </a:p>
          <a:p>
            <a:pPr marL="571500" indent="0">
              <a:lnSpc>
                <a:spcPct val="100000"/>
              </a:lnSpc>
              <a:spcBef>
                <a:spcPts val="0"/>
              </a:spcBef>
              <a:buNone/>
            </a:pPr>
            <a:endParaRPr lang="en-US" altLang="zh-CN" sz="2400" dirty="0">
              <a:latin typeface="Times New Roman" panose="02020603050405020304" pitchFamily="18" charset="0"/>
              <a:ea typeface="微软雅黑" panose="020B0503020204020204" pitchFamily="34" charset="-122"/>
            </a:endParaRPr>
          </a:p>
          <a:p>
            <a:pPr marL="571500" indent="0">
              <a:lnSpc>
                <a:spcPct val="100000"/>
              </a:lnSpc>
              <a:spcBef>
                <a:spcPts val="0"/>
              </a:spcBef>
              <a:buNone/>
            </a:pPr>
            <a:r>
              <a:rPr lang="en-US" altLang="zh-CN" sz="2400" dirty="0">
                <a:latin typeface="Times New Roman" panose="02020603050405020304" pitchFamily="18" charset="0"/>
                <a:ea typeface="微软雅黑" panose="020B0503020204020204" pitchFamily="34" charset="-122"/>
              </a:rPr>
              <a:t>d)   [___] = </a:t>
            </a:r>
            <a:r>
              <a:rPr lang="en-US" altLang="zh-CN" sz="2400" dirty="0" err="1">
                <a:latin typeface="Times New Roman" panose="02020603050405020304" pitchFamily="18" charset="0"/>
                <a:ea typeface="微软雅黑" panose="020B0503020204020204" pitchFamily="34" charset="-122"/>
              </a:rPr>
              <a:t>imfindcircles</a:t>
            </a: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___</a:t>
            </a: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Name</a:t>
            </a: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Value</a:t>
            </a:r>
            <a:r>
              <a:rPr lang="zh-CN" altLang="en-US" sz="2400" dirty="0">
                <a:latin typeface="Times New Roman" panose="02020603050405020304" pitchFamily="18" charset="0"/>
                <a:ea typeface="微软雅黑" panose="020B0503020204020204" pitchFamily="34" charset="-122"/>
              </a:rPr>
              <a:t>）使用以前的任何语法，</a:t>
            </a:r>
            <a:r>
              <a:rPr lang="zh-CN" altLang="en-US" sz="2400" b="1" dirty="0">
                <a:latin typeface="Times New Roman" panose="02020603050405020304" pitchFamily="18" charset="0"/>
                <a:ea typeface="微软雅黑" panose="020B0503020204020204" pitchFamily="34" charset="-122"/>
              </a:rPr>
              <a:t>使用一个或多个         </a:t>
            </a:r>
            <a:endParaRPr lang="en-US" altLang="zh-CN" sz="2400" b="1" dirty="0">
              <a:latin typeface="Times New Roman" panose="02020603050405020304" pitchFamily="18" charset="0"/>
              <a:ea typeface="微软雅黑" panose="020B0503020204020204" pitchFamily="34" charset="-122"/>
            </a:endParaRPr>
          </a:p>
          <a:p>
            <a:pPr marL="571500" indent="0">
              <a:lnSpc>
                <a:spcPct val="100000"/>
              </a:lnSpc>
              <a:spcBef>
                <a:spcPts val="0"/>
              </a:spcBef>
              <a:buNone/>
            </a:pPr>
            <a:r>
              <a:rPr lang="en-US" altLang="zh-CN" sz="2400" b="1" dirty="0">
                <a:latin typeface="Times New Roman" panose="02020603050405020304" pitchFamily="18" charset="0"/>
                <a:ea typeface="微软雅黑" panose="020B0503020204020204" pitchFamily="34" charset="-122"/>
              </a:rPr>
              <a:t>      Name</a:t>
            </a:r>
            <a:r>
              <a:rPr lang="zh-CN" altLang="en-US" sz="2400" b="1" dirty="0">
                <a:latin typeface="Times New Roman" panose="02020603050405020304" pitchFamily="18" charset="0"/>
                <a:ea typeface="微软雅黑" panose="020B0503020204020204" pitchFamily="34" charset="-122"/>
              </a:rPr>
              <a:t>，</a:t>
            </a:r>
            <a:r>
              <a:rPr lang="en-US" altLang="zh-CN" sz="2400" b="1" dirty="0">
                <a:latin typeface="Times New Roman" panose="02020603050405020304" pitchFamily="18" charset="0"/>
                <a:ea typeface="微软雅黑" panose="020B0503020204020204" pitchFamily="34" charset="-122"/>
              </a:rPr>
              <a:t>Value</a:t>
            </a:r>
            <a:r>
              <a:rPr lang="zh-CN" altLang="en-US" sz="2400" b="1" dirty="0">
                <a:latin typeface="Times New Roman" panose="02020603050405020304" pitchFamily="18" charset="0"/>
                <a:ea typeface="微软雅黑" panose="020B0503020204020204" pitchFamily="34" charset="-122"/>
              </a:rPr>
              <a:t>对参数指定其他选项</a:t>
            </a:r>
            <a:r>
              <a:rPr lang="zh-CN" altLang="en-US" sz="2400" dirty="0">
                <a:latin typeface="Times New Roman" panose="02020603050405020304" pitchFamily="18" charset="0"/>
                <a:ea typeface="微软雅黑" panose="020B0503020204020204" pitchFamily="34" charset="-122"/>
              </a:rPr>
              <a:t>。</a:t>
            </a:r>
          </a:p>
          <a:p>
            <a:pPr marL="571500" indent="457200">
              <a:lnSpc>
                <a:spcPct val="100000"/>
              </a:lnSpc>
              <a:spcBef>
                <a:spcPts val="0"/>
              </a:spcBef>
              <a:buNone/>
            </a:pPr>
            <a:endParaRPr lang="en-US" altLang="zh-CN" sz="2000" b="1" dirty="0">
              <a:solidFill>
                <a:srgbClr val="A42806"/>
              </a:solidFill>
              <a:ea typeface="Gulim" panose="020B0600000101010101" pitchFamily="34" charset="-127"/>
            </a:endParaRPr>
          </a:p>
        </p:txBody>
      </p:sp>
      <p:sp>
        <p:nvSpPr>
          <p:cNvPr id="8" name="Rectangle 2"/>
          <p:cNvSpPr txBox="1"/>
          <p:nvPr/>
        </p:nvSpPr>
        <p:spPr>
          <a:xfrm>
            <a:off x="1648460" y="260865"/>
            <a:ext cx="8895080" cy="720725"/>
          </a:xfrm>
        </p:spPr>
        <p:txBody>
          <a:bodyPr vert="horz" wrap="square" lIns="91440" tIns="45720" rIns="91440" bIns="45720"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案例</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3 </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圆木计数</a:t>
            </a:r>
            <a:br>
              <a:rPr lang="zh-CN" altLang="en-US" sz="2800" b="1" dirty="0">
                <a:ln w="0"/>
                <a:effectLst>
                  <a:outerShdw blurRad="38100" dist="19050" dir="2700000" algn="tl" rotWithShape="0">
                    <a:schemeClr val="dk1">
                      <a:alpha val="40000"/>
                    </a:schemeClr>
                  </a:outerShdw>
                </a:effectLst>
                <a:latin typeface="Times New Roman" panose="02020603050405020304" pitchFamily="18" charset="0"/>
                <a:ea typeface="微软雅黑" panose="020B0503020204020204" pitchFamily="34" charset="-122"/>
                <a:cs typeface="Times New Roman" panose="02020603050405020304" pitchFamily="18" charset="0"/>
              </a:rPr>
            </a:br>
            <a:endParaRPr lang="en-US" altLang="zh-CN" sz="2800" b="1" dirty="0">
              <a:ln w="0"/>
              <a:effectLst>
                <a:outerShdw blurRad="38100" dist="19050" dir="2700000" algn="tl" rotWithShape="0">
                  <a:schemeClr val="dk1">
                    <a:alpha val="40000"/>
                  </a:scheme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图片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600" y="0"/>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8" name="直接连接符 57"/>
          <p:cNvCxnSpPr/>
          <p:nvPr/>
        </p:nvCxnSpPr>
        <p:spPr>
          <a:xfrm>
            <a:off x="0" y="981590"/>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7" name="Rectangle 3"/>
          <p:cNvSpPr txBox="1"/>
          <p:nvPr/>
        </p:nvSpPr>
        <p:spPr>
          <a:xfrm>
            <a:off x="0" y="952070"/>
            <a:ext cx="12192000" cy="720725"/>
          </a:xfr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00000"/>
              </a:lnSpc>
              <a:spcBef>
                <a:spcPts val="0"/>
              </a:spcBef>
              <a:buNone/>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本案例使用</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[centers</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radii] = </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imfindcircles</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radiusRange</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）查找半径在</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radiusRange</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指定范围内的圆。代码如下所示，结果如图</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14-12</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所示。</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文本框 1"/>
          <p:cNvSpPr txBox="1"/>
          <p:nvPr/>
        </p:nvSpPr>
        <p:spPr>
          <a:xfrm>
            <a:off x="1" y="1710351"/>
            <a:ext cx="11928628" cy="1938992"/>
          </a:xfrm>
          <a:prstGeom prst="rect">
            <a:avLst/>
          </a:prstGeom>
          <a:noFill/>
        </p:spPr>
        <p:txBody>
          <a:bodyPr wrap="square" rtlCol="0">
            <a:spAutoFit/>
          </a:bodyPr>
          <a:lstStyle/>
          <a:p>
            <a:pPr indent="457200"/>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圆木计数代码</a:t>
            </a:r>
          </a:p>
          <a:p>
            <a:pPr indent="457200"/>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%h = </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imdistline</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测量圆木直径</a:t>
            </a:r>
          </a:p>
          <a:p>
            <a:pPr indent="457200"/>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centers,radii</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imfindcircles</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Ir</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,[45 155],'</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ObjectPolarity</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','bright',...</a:t>
            </a:r>
          </a:p>
          <a:p>
            <a:pPr indent="457200"/>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'Sensitivity',0.97);</a:t>
            </a:r>
          </a:p>
          <a:p>
            <a:pPr indent="457200"/>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h = </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viscircles</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centers,radii</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p>
          <a:p>
            <a:pPr indent="457200"/>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num = length(centers)</a:t>
            </a:r>
          </a:p>
        </p:txBody>
      </p:sp>
      <p:sp>
        <p:nvSpPr>
          <p:cNvPr id="8" name="Rectangle 2"/>
          <p:cNvSpPr txBox="1"/>
          <p:nvPr/>
        </p:nvSpPr>
        <p:spPr>
          <a:xfrm>
            <a:off x="1648460" y="260865"/>
            <a:ext cx="8895080" cy="720725"/>
          </a:xfrm>
        </p:spPr>
        <p:txBody>
          <a:bodyPr vert="horz" wrap="square" lIns="91440" tIns="45720" rIns="91440" bIns="45720"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案例</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3 </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圆木计数</a:t>
            </a:r>
            <a:br>
              <a:rPr lang="zh-CN" altLang="en-US" sz="2800" b="1" dirty="0">
                <a:ln w="0"/>
                <a:effectLst>
                  <a:outerShdw blurRad="38100" dist="38100" dir="2700000" algn="tl">
                    <a:srgbClr val="000000">
                      <a:alpha val="43137"/>
                    </a:srgbClr>
                  </a:outerShdw>
                </a:effectLst>
                <a:ea typeface="宋体" panose="02010600030101010101" pitchFamily="2" charset="-122"/>
              </a:rPr>
            </a:br>
            <a:endParaRPr lang="en-US" altLang="zh-CN" sz="2800" b="1" dirty="0">
              <a:ln w="0"/>
              <a:effectLst>
                <a:outerShdw blurRad="38100" dist="38100" dir="2700000" algn="tl">
                  <a:srgbClr val="000000">
                    <a:alpha val="43137"/>
                  </a:srgbClr>
                </a:outerShdw>
              </a:effectLst>
              <a:ea typeface="宋体" panose="02010600030101010101" pitchFamily="2" charset="-122"/>
            </a:endParaRPr>
          </a:p>
        </p:txBody>
      </p:sp>
      <p:pic>
        <p:nvPicPr>
          <p:cNvPr id="9" name="图片 8"/>
          <p:cNvPicPr/>
          <p:nvPr/>
        </p:nvPicPr>
        <p:blipFill>
          <a:blip r:embed="rId4" cstate="print"/>
          <a:stretch>
            <a:fillRect/>
          </a:stretch>
        </p:blipFill>
        <p:spPr>
          <a:xfrm>
            <a:off x="3249228" y="3771015"/>
            <a:ext cx="4352308" cy="2505498"/>
          </a:xfrm>
          <a:prstGeom prst="rect">
            <a:avLst/>
          </a:prstGeom>
        </p:spPr>
      </p:pic>
      <p:sp>
        <p:nvSpPr>
          <p:cNvPr id="10" name="文本框 9"/>
          <p:cNvSpPr txBox="1"/>
          <p:nvPr/>
        </p:nvSpPr>
        <p:spPr>
          <a:xfrm>
            <a:off x="3348007" y="6398185"/>
            <a:ext cx="4154750" cy="369332"/>
          </a:xfrm>
          <a:prstGeom prst="rect">
            <a:avLst/>
          </a:prstGeom>
          <a:noFill/>
        </p:spPr>
        <p:txBody>
          <a:bodyPr wrap="square" rtlCol="0">
            <a:spAutoFit/>
          </a:bodyPr>
          <a:lstStyle/>
          <a:p>
            <a:pPr algn="ctr"/>
            <a:r>
              <a:rPr lang="zh-CN" altLang="en-US" dirty="0"/>
              <a:t>图</a:t>
            </a:r>
            <a:r>
              <a:rPr lang="en-US" altLang="zh-CN" dirty="0"/>
              <a:t>14-12 </a:t>
            </a:r>
            <a:r>
              <a:rPr lang="zh-CN" altLang="en-US" dirty="0"/>
              <a:t>圆木计数</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图片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600" y="0"/>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8" name="直接连接符 57"/>
          <p:cNvCxnSpPr/>
          <p:nvPr/>
        </p:nvCxnSpPr>
        <p:spPr>
          <a:xfrm>
            <a:off x="0" y="981590"/>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7" name="Rectangle 3"/>
          <p:cNvSpPr txBox="1"/>
          <p:nvPr/>
        </p:nvSpPr>
        <p:spPr>
          <a:xfrm>
            <a:off x="0" y="952071"/>
            <a:ext cx="12029241" cy="1578066"/>
          </a:xfr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indent="457200">
              <a:lnSpc>
                <a:spcPct val="100000"/>
              </a:lnSpc>
              <a:spcBef>
                <a:spcPts val="0"/>
              </a:spcBef>
              <a:buFont typeface="Wingdings" panose="05000000000000000000" pitchFamily="2" charset="2"/>
              <a:buChar char="l"/>
            </a:pPr>
            <a:r>
              <a:rPr lang="zh-CN" altLang="en-US" sz="2400" b="1" dirty="0">
                <a:solidFill>
                  <a:srgbClr val="FF0000"/>
                </a:solidFill>
                <a:latin typeface="Times New Roman" panose="02020603050405020304" pitchFamily="18" charset="0"/>
                <a:ea typeface="微软雅黑" panose="020B0503020204020204" pitchFamily="34" charset="-122"/>
              </a:rPr>
              <a:t>案例背景</a:t>
            </a:r>
            <a:endParaRPr lang="en-US" altLang="zh-CN" sz="2400" b="1" dirty="0">
              <a:solidFill>
                <a:srgbClr val="FF0000"/>
              </a:solidFill>
              <a:latin typeface="Times New Roman" panose="02020603050405020304" pitchFamily="18" charset="0"/>
              <a:ea typeface="微软雅黑" panose="020B0503020204020204" pitchFamily="34" charset="-122"/>
            </a:endParaRPr>
          </a:p>
          <a:p>
            <a:pPr marL="0" indent="457200">
              <a:lnSpc>
                <a:spcPct val="100000"/>
              </a:lnSpc>
              <a:spcBef>
                <a:spcPts val="0"/>
              </a:spcBef>
              <a:buNone/>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MATLAB</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提供了多种图像处理函数，涵盖了图像处理的包括近期研究成果在内的几乎所有的技术方法，应用</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matlab</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的</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GUI</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文件对图片进行</a:t>
            </a:r>
            <a:r>
              <a:rPr lang="zh-CN" altLang="en-US" sz="24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灰度处理，代数运算、图像分割、边缘检测和图像通道处理</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能够较直观的处理图像。</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457200">
              <a:lnSpc>
                <a:spcPct val="100000"/>
              </a:lnSpc>
              <a:spcBef>
                <a:spcPts val="0"/>
              </a:spcBef>
              <a:buNone/>
            </a:pPr>
            <a:endParaRPr lang="en-US" altLang="zh-CN" sz="2400" b="1" dirty="0">
              <a:ea typeface="宋体" panose="02010600030101010101" pitchFamily="2" charset="-122"/>
            </a:endParaRPr>
          </a:p>
          <a:p>
            <a:pPr marL="0" indent="0">
              <a:buFont typeface="Arial" panose="020B0604020202020204" pitchFamily="34" charset="0"/>
              <a:buNone/>
            </a:pPr>
            <a:endParaRPr lang="en-US" altLang="zh-CN" sz="2400" b="1" dirty="0">
              <a:solidFill>
                <a:srgbClr val="A42806"/>
              </a:solidFill>
              <a:ea typeface="Gulim" panose="020B0600000101010101" pitchFamily="34" charset="-127"/>
            </a:endParaRPr>
          </a:p>
        </p:txBody>
      </p:sp>
      <p:sp>
        <p:nvSpPr>
          <p:cNvPr id="10" name="Rectangle 2"/>
          <p:cNvSpPr txBox="1"/>
          <p:nvPr/>
        </p:nvSpPr>
        <p:spPr>
          <a:xfrm>
            <a:off x="1648460" y="260865"/>
            <a:ext cx="8895080" cy="720725"/>
          </a:xfrm>
        </p:spPr>
        <p:txBody>
          <a:bodyPr vert="horz" wrap="square" lIns="91440" tIns="45720" rIns="91440" bIns="45720"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案例</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4 </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基于</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MATLAB GUI</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的数字图像处理设计</a:t>
            </a:r>
            <a:br>
              <a:rPr lang="zh-CN" altLang="en-US" sz="2800" b="1" dirty="0">
                <a:ln w="0"/>
                <a:ea typeface="宋体" panose="02010600030101010101" pitchFamily="2" charset="-122"/>
              </a:rPr>
            </a:br>
            <a:endParaRPr lang="en-US" altLang="zh-CN" sz="2800" b="1" dirty="0">
              <a:ln w="0"/>
              <a:ea typeface="宋体" panose="02010600030101010101" pitchFamily="2" charset="-122"/>
            </a:endParaRPr>
          </a:p>
        </p:txBody>
      </p:sp>
      <p:sp>
        <p:nvSpPr>
          <p:cNvPr id="8" name="文本框 7"/>
          <p:cNvSpPr txBox="1"/>
          <p:nvPr/>
        </p:nvSpPr>
        <p:spPr>
          <a:xfrm>
            <a:off x="3982222" y="6412469"/>
            <a:ext cx="4154750" cy="369332"/>
          </a:xfrm>
          <a:prstGeom prst="rect">
            <a:avLst/>
          </a:prstGeom>
          <a:noFill/>
        </p:spPr>
        <p:txBody>
          <a:bodyPr wrap="square" rtlCol="0">
            <a:spAutoFit/>
          </a:bodyPr>
          <a:lstStyle/>
          <a:p>
            <a:pPr algn="ctr"/>
            <a:r>
              <a:rPr lang="zh-CN" altLang="en-US" dirty="0">
                <a:latin typeface="Times New Roman" panose="02020603050405020304" pitchFamily="18" charset="0"/>
                <a:ea typeface="微软雅黑" panose="020B0503020204020204" pitchFamily="34" charset="-122"/>
              </a:rPr>
              <a:t>图</a:t>
            </a:r>
            <a:r>
              <a:rPr lang="en-US" altLang="zh-CN" dirty="0">
                <a:latin typeface="Times New Roman" panose="02020603050405020304" pitchFamily="18" charset="0"/>
                <a:ea typeface="微软雅黑" panose="020B0503020204020204" pitchFamily="34" charset="-122"/>
              </a:rPr>
              <a:t>14-13</a:t>
            </a:r>
            <a:r>
              <a:rPr lang="zh-CN" altLang="en-US" dirty="0">
                <a:latin typeface="Times New Roman" panose="02020603050405020304" pitchFamily="18" charset="0"/>
                <a:ea typeface="微软雅黑" panose="020B0503020204020204" pitchFamily="34" charset="-122"/>
              </a:rPr>
              <a:t>流程图</a:t>
            </a:r>
          </a:p>
        </p:txBody>
      </p:sp>
      <p:pic>
        <p:nvPicPr>
          <p:cNvPr id="9" name="图片 8"/>
          <p:cNvPicPr>
            <a:picLocks noChangeAspect="1"/>
          </p:cNvPicPr>
          <p:nvPr/>
        </p:nvPicPr>
        <p:blipFill rotWithShape="1">
          <a:blip r:embed="rId4" cstate="print"/>
          <a:srcRect t="2511" b="9151"/>
          <a:stretch>
            <a:fillRect/>
          </a:stretch>
        </p:blipFill>
        <p:spPr>
          <a:xfrm>
            <a:off x="3982222" y="2530137"/>
            <a:ext cx="4064795" cy="370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图片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600" y="0"/>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8" name="直接连接符 57"/>
          <p:cNvCxnSpPr/>
          <p:nvPr/>
        </p:nvCxnSpPr>
        <p:spPr>
          <a:xfrm>
            <a:off x="0" y="981590"/>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7" name="Rectangle 3"/>
          <p:cNvSpPr txBox="1"/>
          <p:nvPr/>
        </p:nvSpPr>
        <p:spPr>
          <a:xfrm>
            <a:off x="0" y="952070"/>
            <a:ext cx="12126897" cy="5905930"/>
          </a:xfr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indent="-342900">
              <a:lnSpc>
                <a:spcPct val="100000"/>
              </a:lnSpc>
              <a:spcBef>
                <a:spcPts val="0"/>
              </a:spcBef>
              <a:buFont typeface="Wingdings" panose="05000000000000000000" pitchFamily="2" charset="2"/>
              <a:buChar char="l"/>
            </a:pPr>
            <a:r>
              <a:rPr lang="zh-CN" altLang="en-US" sz="2400" b="1" dirty="0">
                <a:solidFill>
                  <a:srgbClr val="FF0000"/>
                </a:solidFill>
                <a:latin typeface="Times New Roman" panose="02020603050405020304" pitchFamily="18" charset="0"/>
                <a:ea typeface="微软雅黑" panose="020B0503020204020204" pitchFamily="34" charset="-122"/>
              </a:rPr>
              <a:t>重要命令</a:t>
            </a:r>
            <a:endParaRPr lang="en-US" altLang="zh-CN" sz="2400" b="1" dirty="0">
              <a:solidFill>
                <a:srgbClr val="FF0000"/>
              </a:solidFill>
              <a:latin typeface="Times New Roman" panose="02020603050405020304" pitchFamily="18" charset="0"/>
              <a:ea typeface="微软雅黑" panose="020B0503020204020204" pitchFamily="34" charset="-122"/>
            </a:endParaRPr>
          </a:p>
          <a:p>
            <a:pPr marL="571500" indent="0">
              <a:lnSpc>
                <a:spcPct val="100000"/>
              </a:lnSpc>
              <a:spcBef>
                <a:spcPts val="0"/>
              </a:spcBef>
              <a:buNone/>
            </a:pPr>
            <a:r>
              <a:rPr lang="en-US" altLang="zh-CN" sz="2400" b="1" dirty="0">
                <a:solidFill>
                  <a:srgbClr val="FF0000"/>
                </a:solidFill>
                <a:latin typeface="Times New Roman" panose="02020603050405020304" pitchFamily="18" charset="0"/>
                <a:ea typeface="微软雅黑" panose="020B0503020204020204" pitchFamily="34" charset="-122"/>
              </a:rPr>
              <a:t>1.</a:t>
            </a:r>
            <a:r>
              <a:rPr lang="zh-CN" altLang="en-US" sz="2400" b="1" dirty="0">
                <a:solidFill>
                  <a:srgbClr val="FF0000"/>
                </a:solidFill>
                <a:latin typeface="Times New Roman" panose="02020603050405020304" pitchFamily="18" charset="0"/>
                <a:ea typeface="微软雅黑" panose="020B0503020204020204" pitchFamily="34" charset="-122"/>
              </a:rPr>
              <a:t>文件获取</a:t>
            </a:r>
          </a:p>
          <a:p>
            <a:pPr marL="0" indent="457200">
              <a:lnSpc>
                <a:spcPct val="100000"/>
              </a:lnSpc>
              <a:spcBef>
                <a:spcPts val="0"/>
              </a:spcBef>
              <a:buNone/>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在</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matlab</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的</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GUI</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设计中，</a:t>
            </a:r>
            <a:r>
              <a:rPr lang="zh-CN" altLang="en-US" sz="24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为了识别目标图像的，需要对图像中的路径和格式读取</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457200">
              <a:lnSpc>
                <a:spcPct val="100000"/>
              </a:lnSpc>
              <a:spcBef>
                <a:spcPts val="0"/>
              </a:spcBef>
              <a:buNone/>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本案例以</a:t>
            </a:r>
            <a:r>
              <a:rPr lang="en-US" altLang="zh-CN" sz="2400" b="1"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uigetfile</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为例，其能</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显示一个模态对话框，对话框列出了当前目录下的文件和目录，用于可以选择一个将要打开的文件名。</a:t>
            </a:r>
            <a:endPar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endParaRPr>
          </a:p>
          <a:p>
            <a:pPr marL="0" indent="457200">
              <a:lnSpc>
                <a:spcPct val="100000"/>
              </a:lnSpc>
              <a:spcBef>
                <a:spcPts val="0"/>
              </a:spcBef>
              <a:buNone/>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如果文件名是有效的且该文件存在，则当用户点击</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Open</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时函数</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uigetfile</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返回该文件名。</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457200">
              <a:lnSpc>
                <a:spcPct val="100000"/>
              </a:lnSpc>
              <a:spcBef>
                <a:spcPts val="0"/>
              </a:spcBef>
              <a:buNone/>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若不存在，</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uigetfile</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显示一个控制返回对话框值的错误提示信息，此时用户可以输入另外的文件名或点击</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Cancel</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按钮。常见用法如下：</a:t>
            </a:r>
          </a:p>
          <a:p>
            <a:pPr marL="0" indent="457200">
              <a:lnSpc>
                <a:spcPct val="100000"/>
              </a:lnSpc>
              <a:spcBef>
                <a:spcPts val="0"/>
              </a:spcBef>
              <a:buNone/>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FileName,PathName,FilterIndex</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uigetfile</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FilterSpec,DialogTitle,DefaultName</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p>
          <a:p>
            <a:pPr marL="0" indent="457200">
              <a:lnSpc>
                <a:spcPct val="100000"/>
              </a:lnSpc>
              <a:spcBef>
                <a:spcPts val="0"/>
              </a:spcBef>
              <a:buNone/>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其中：	</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457200">
              <a:lnSpc>
                <a:spcPct val="100000"/>
              </a:lnSpc>
              <a:spcBef>
                <a:spcPts val="0"/>
              </a:spcBef>
              <a:buNone/>
            </a:pP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FileName</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：返回的文件名			</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PathName</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：返回的文件的路径名</a:t>
            </a:r>
          </a:p>
          <a:p>
            <a:pPr marL="0" indent="457200">
              <a:lnSpc>
                <a:spcPct val="100000"/>
              </a:lnSpc>
              <a:spcBef>
                <a:spcPts val="0"/>
              </a:spcBef>
              <a:buNone/>
            </a:pP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FilterIndex</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：选择的文件类型		</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FilterSpec</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文件类型设置</a:t>
            </a:r>
          </a:p>
          <a:p>
            <a:pPr marL="0" indent="457200">
              <a:lnSpc>
                <a:spcPct val="100000"/>
              </a:lnSpc>
              <a:spcBef>
                <a:spcPts val="0"/>
              </a:spcBef>
              <a:buNone/>
            </a:pP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DialogTitle</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：打开对话框的标题	</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DefaultName</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：默认指向的文件名</a:t>
            </a:r>
          </a:p>
          <a:p>
            <a:pPr marL="0" indent="457200">
              <a:lnSpc>
                <a:spcPct val="100000"/>
              </a:lnSpc>
              <a:spcBef>
                <a:spcPts val="0"/>
              </a:spcBef>
              <a:buNone/>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本案例中，采用的命令为：</a:t>
            </a:r>
          </a:p>
          <a:p>
            <a:pPr marL="0" indent="457200">
              <a:lnSpc>
                <a:spcPct val="100000"/>
              </a:lnSpc>
              <a:spcBef>
                <a:spcPts val="0"/>
              </a:spcBef>
              <a:buNone/>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filename,pathname</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uigetfile</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({'*.jpg';'*.bmp’;‘*.gif'},'select picture');</a:t>
            </a:r>
          </a:p>
          <a:p>
            <a:pPr marL="0" indent="457200">
              <a:lnSpc>
                <a:spcPct val="100000"/>
              </a:lnSpc>
              <a:spcBef>
                <a:spcPts val="0"/>
              </a:spcBef>
              <a:buNone/>
            </a:pP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pPr marL="0" indent="457200">
              <a:lnSpc>
                <a:spcPct val="100000"/>
              </a:lnSpc>
              <a:spcBef>
                <a:spcPts val="0"/>
              </a:spcBef>
              <a:buNone/>
            </a:pPr>
            <a:endParaRPr lang="en-US" altLang="zh-CN" sz="2400" b="1" dirty="0">
              <a:ea typeface="宋体" panose="02010600030101010101" pitchFamily="2" charset="-122"/>
            </a:endParaRPr>
          </a:p>
          <a:p>
            <a:pPr marL="0" indent="0">
              <a:buFont typeface="Arial" panose="020B0604020202020204" pitchFamily="34" charset="0"/>
              <a:buNone/>
            </a:pPr>
            <a:endParaRPr lang="en-US" altLang="zh-CN" sz="2400" b="1" dirty="0">
              <a:solidFill>
                <a:srgbClr val="A42806"/>
              </a:solidFill>
              <a:ea typeface="Gulim" panose="020B0600000101010101" pitchFamily="34" charset="-127"/>
            </a:endParaRPr>
          </a:p>
        </p:txBody>
      </p:sp>
      <p:sp>
        <p:nvSpPr>
          <p:cNvPr id="10" name="Rectangle 2"/>
          <p:cNvSpPr txBox="1"/>
          <p:nvPr/>
        </p:nvSpPr>
        <p:spPr>
          <a:xfrm>
            <a:off x="1648460" y="260865"/>
            <a:ext cx="8895080" cy="720725"/>
          </a:xfrm>
        </p:spPr>
        <p:txBody>
          <a:bodyPr vert="horz" wrap="square" lIns="91440" tIns="45720" rIns="91440" bIns="45720"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案例</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4 </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基于</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MATLAB GUI</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的数字图像处理设计</a:t>
            </a:r>
            <a:br>
              <a:rPr lang="zh-CN" altLang="en-US" sz="2800" b="1" dirty="0">
                <a:ln w="0"/>
                <a:ea typeface="宋体" panose="02010600030101010101" pitchFamily="2" charset="-122"/>
              </a:rPr>
            </a:br>
            <a:endParaRPr lang="en-US" altLang="zh-CN" sz="2800" b="1" dirty="0">
              <a:ln w="0"/>
              <a:ea typeface="宋体"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图片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600" y="0"/>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8" name="直接连接符 57"/>
          <p:cNvCxnSpPr/>
          <p:nvPr/>
        </p:nvCxnSpPr>
        <p:spPr>
          <a:xfrm>
            <a:off x="0" y="981590"/>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7" name="Rectangle 3"/>
          <p:cNvSpPr txBox="1"/>
          <p:nvPr/>
        </p:nvSpPr>
        <p:spPr>
          <a:xfrm>
            <a:off x="0" y="952070"/>
            <a:ext cx="12126897" cy="1595821"/>
          </a:xfr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indent="457200">
              <a:lnSpc>
                <a:spcPct val="100000"/>
              </a:lnSpc>
              <a:spcBef>
                <a:spcPts val="0"/>
              </a:spcBef>
              <a:buFont typeface="Wingdings" panose="05000000000000000000" pitchFamily="2" charset="2"/>
              <a:buChar char="l"/>
            </a:pPr>
            <a:r>
              <a:rPr lang="zh-CN" altLang="en-US" sz="2400" b="1" dirty="0">
                <a:solidFill>
                  <a:srgbClr val="FF0000"/>
                </a:solidFill>
                <a:ea typeface="宋体" panose="02010600030101010101" pitchFamily="2" charset="-122"/>
              </a:rPr>
              <a:t> </a:t>
            </a:r>
            <a:r>
              <a:rPr lang="en-US" altLang="zh-CN" sz="2400" b="1" dirty="0">
                <a:solidFill>
                  <a:srgbClr val="FF0000"/>
                </a:solidFill>
                <a:latin typeface="Times New Roman" panose="02020603050405020304" pitchFamily="18" charset="0"/>
                <a:ea typeface="微软雅黑" panose="020B0503020204020204" pitchFamily="34" charset="-122"/>
              </a:rPr>
              <a:t>GUI</a:t>
            </a:r>
            <a:r>
              <a:rPr lang="zh-CN" altLang="en-US" sz="2400" b="1" dirty="0">
                <a:solidFill>
                  <a:srgbClr val="FF0000"/>
                </a:solidFill>
                <a:latin typeface="Times New Roman" panose="02020603050405020304" pitchFamily="18" charset="0"/>
                <a:ea typeface="微软雅黑" panose="020B0503020204020204" pitchFamily="34" charset="-122"/>
              </a:rPr>
              <a:t>搭建过程分析</a:t>
            </a:r>
            <a:endParaRPr lang="en-US" altLang="zh-CN" sz="2400" b="1" dirty="0">
              <a:solidFill>
                <a:srgbClr val="FF0000"/>
              </a:solidFill>
              <a:latin typeface="Times New Roman" panose="02020603050405020304" pitchFamily="18" charset="0"/>
              <a:ea typeface="微软雅黑" panose="020B0503020204020204" pitchFamily="34" charset="-122"/>
            </a:endParaRPr>
          </a:p>
          <a:p>
            <a:pPr marL="571500" indent="457200">
              <a:lnSpc>
                <a:spcPct val="100000"/>
              </a:lnSpc>
              <a:spcBef>
                <a:spcPts val="0"/>
              </a:spcBef>
              <a:buNone/>
            </a:pPr>
            <a:r>
              <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）打开</a:t>
            </a:r>
            <a:r>
              <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GUI</a:t>
            </a:r>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界面</a:t>
            </a:r>
          </a:p>
          <a:p>
            <a:pPr marL="0" indent="457200">
              <a:lnSpc>
                <a:spcPct val="100000"/>
              </a:lnSpc>
              <a:spcBef>
                <a:spcPts val="0"/>
              </a:spcBef>
              <a:buNone/>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在</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Matlab2019b</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的命令行输入</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guide</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，进入</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GUIDE</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快速入门窗口，选择</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Blank GUI</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default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）进入</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GUI</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设计界面。如图</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14-14—</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图</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14-16</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所示。</a:t>
            </a:r>
            <a:endParaRPr lang="en-US" altLang="zh-CN" sz="2400" dirty="0">
              <a:latin typeface="Times New Roman" panose="02020603050405020304" pitchFamily="18" charset="0"/>
              <a:ea typeface="微软雅黑" panose="020B0503020204020204" pitchFamily="34" charset="-122"/>
            </a:endParaRPr>
          </a:p>
          <a:p>
            <a:pPr marL="0" indent="0">
              <a:buFont typeface="Arial" panose="020B0604020202020204" pitchFamily="34" charset="0"/>
              <a:buNone/>
            </a:pPr>
            <a:endParaRPr lang="en-US" altLang="zh-CN" sz="2400" b="1" dirty="0">
              <a:solidFill>
                <a:srgbClr val="A42806"/>
              </a:solidFill>
              <a:ea typeface="Gulim" panose="020B0600000101010101" pitchFamily="34" charset="-127"/>
            </a:endParaRPr>
          </a:p>
        </p:txBody>
      </p:sp>
      <p:sp>
        <p:nvSpPr>
          <p:cNvPr id="10" name="Rectangle 2"/>
          <p:cNvSpPr txBox="1"/>
          <p:nvPr/>
        </p:nvSpPr>
        <p:spPr>
          <a:xfrm>
            <a:off x="1648460" y="260865"/>
            <a:ext cx="8895080" cy="720725"/>
          </a:xfrm>
        </p:spPr>
        <p:txBody>
          <a:bodyPr vert="horz" wrap="square" lIns="91440" tIns="45720" rIns="91440" bIns="45720"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案例</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4 </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基于</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MATLAB GUI</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的数字图像处理设计</a:t>
            </a:r>
            <a:b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rPr>
            </a:br>
            <a:endPar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6" name="图片 5"/>
          <p:cNvPicPr/>
          <p:nvPr/>
        </p:nvPicPr>
        <p:blipFill>
          <a:blip r:embed="rId4" cstate="print"/>
          <a:stretch>
            <a:fillRect/>
          </a:stretch>
        </p:blipFill>
        <p:spPr>
          <a:xfrm>
            <a:off x="556097" y="3239096"/>
            <a:ext cx="3226294" cy="2637314"/>
          </a:xfrm>
          <a:prstGeom prst="rect">
            <a:avLst/>
          </a:prstGeom>
        </p:spPr>
      </p:pic>
      <p:pic>
        <p:nvPicPr>
          <p:cNvPr id="8" name="图片 7"/>
          <p:cNvPicPr/>
          <p:nvPr/>
        </p:nvPicPr>
        <p:blipFill>
          <a:blip r:embed="rId5" cstate="print"/>
          <a:stretch>
            <a:fillRect/>
          </a:stretch>
        </p:blipFill>
        <p:spPr>
          <a:xfrm>
            <a:off x="4829452" y="3229550"/>
            <a:ext cx="3080551" cy="2646860"/>
          </a:xfrm>
          <a:prstGeom prst="rect">
            <a:avLst/>
          </a:prstGeom>
        </p:spPr>
      </p:pic>
      <p:pic>
        <p:nvPicPr>
          <p:cNvPr id="9" name="图片 8"/>
          <p:cNvPicPr/>
          <p:nvPr/>
        </p:nvPicPr>
        <p:blipFill>
          <a:blip r:embed="rId6" cstate="print"/>
          <a:stretch>
            <a:fillRect/>
          </a:stretch>
        </p:blipFill>
        <p:spPr>
          <a:xfrm>
            <a:off x="8610600" y="3229551"/>
            <a:ext cx="3226294" cy="2676380"/>
          </a:xfrm>
          <a:prstGeom prst="rect">
            <a:avLst/>
          </a:prstGeom>
        </p:spPr>
      </p:pic>
      <p:sp>
        <p:nvSpPr>
          <p:cNvPr id="11" name="文本框 10"/>
          <p:cNvSpPr txBox="1"/>
          <p:nvPr/>
        </p:nvSpPr>
        <p:spPr>
          <a:xfrm>
            <a:off x="308129" y="6048758"/>
            <a:ext cx="4154750" cy="369332"/>
          </a:xfrm>
          <a:prstGeom prst="rect">
            <a:avLst/>
          </a:prstGeom>
          <a:noFill/>
        </p:spPr>
        <p:txBody>
          <a:bodyPr wrap="square" rtlCol="0">
            <a:spAutoFit/>
          </a:bodyPr>
          <a:lstStyle/>
          <a:p>
            <a:pPr algn="ctr"/>
            <a:r>
              <a:rPr lang="zh-CN" altLang="en-US" dirty="0">
                <a:latin typeface="Times New Roman" panose="02020603050405020304" pitchFamily="18" charset="0"/>
                <a:ea typeface="微软雅黑" panose="020B0503020204020204" pitchFamily="34" charset="-122"/>
              </a:rPr>
              <a:t>图</a:t>
            </a:r>
            <a:r>
              <a:rPr lang="en-US" altLang="zh-CN" dirty="0">
                <a:latin typeface="Times New Roman" panose="02020603050405020304" pitchFamily="18" charset="0"/>
                <a:ea typeface="微软雅黑" panose="020B0503020204020204" pitchFamily="34" charset="-122"/>
              </a:rPr>
              <a:t>14-14 </a:t>
            </a:r>
            <a:r>
              <a:rPr lang="zh-CN" altLang="en-US" dirty="0">
                <a:latin typeface="Times New Roman" panose="02020603050405020304" pitchFamily="18" charset="0"/>
                <a:ea typeface="微软雅黑" panose="020B0503020204020204" pitchFamily="34" charset="-122"/>
              </a:rPr>
              <a:t>命令行中输入</a:t>
            </a:r>
            <a:r>
              <a:rPr lang="en-US" altLang="zh-CN" dirty="0">
                <a:latin typeface="Times New Roman" panose="02020603050405020304" pitchFamily="18" charset="0"/>
                <a:ea typeface="微软雅黑" panose="020B0503020204020204" pitchFamily="34" charset="-122"/>
              </a:rPr>
              <a:t>guide</a:t>
            </a:r>
            <a:endParaRPr lang="zh-CN" altLang="en-US" dirty="0">
              <a:latin typeface="Times New Roman" panose="02020603050405020304" pitchFamily="18" charset="0"/>
              <a:ea typeface="微软雅黑" panose="020B0503020204020204" pitchFamily="34" charset="-122"/>
            </a:endParaRPr>
          </a:p>
        </p:txBody>
      </p:sp>
      <p:sp>
        <p:nvSpPr>
          <p:cNvPr id="12" name="文本框 11"/>
          <p:cNvSpPr txBox="1"/>
          <p:nvPr/>
        </p:nvSpPr>
        <p:spPr>
          <a:xfrm>
            <a:off x="4356347" y="6048758"/>
            <a:ext cx="4154750" cy="369332"/>
          </a:xfrm>
          <a:prstGeom prst="rect">
            <a:avLst/>
          </a:prstGeom>
          <a:noFill/>
        </p:spPr>
        <p:txBody>
          <a:bodyPr wrap="square" rtlCol="0">
            <a:spAutoFit/>
          </a:bodyPr>
          <a:lstStyle/>
          <a:p>
            <a:pPr algn="ctr"/>
            <a:r>
              <a:rPr lang="zh-CN" altLang="en-US" dirty="0">
                <a:latin typeface="Times New Roman" panose="02020603050405020304" pitchFamily="18" charset="0"/>
                <a:ea typeface="微软雅黑" panose="020B0503020204020204" pitchFamily="34" charset="-122"/>
              </a:rPr>
              <a:t>图</a:t>
            </a:r>
            <a:r>
              <a:rPr lang="en-US" altLang="zh-CN" dirty="0">
                <a:latin typeface="Times New Roman" panose="02020603050405020304" pitchFamily="18" charset="0"/>
                <a:ea typeface="微软雅黑" panose="020B0503020204020204" pitchFamily="34" charset="-122"/>
              </a:rPr>
              <a:t>14-15</a:t>
            </a:r>
            <a:r>
              <a:rPr lang="zh-CN" altLang="en-US" dirty="0">
                <a:latin typeface="Times New Roman" panose="02020603050405020304" pitchFamily="18" charset="0"/>
                <a:ea typeface="微软雅黑" panose="020B0503020204020204" pitchFamily="34" charset="-122"/>
              </a:rPr>
              <a:t>选择创建一个空白的</a:t>
            </a:r>
            <a:r>
              <a:rPr lang="en-US" altLang="zh-CN" dirty="0">
                <a:latin typeface="Times New Roman" panose="02020603050405020304" pitchFamily="18" charset="0"/>
                <a:ea typeface="微软雅黑" panose="020B0503020204020204" pitchFamily="34" charset="-122"/>
              </a:rPr>
              <a:t>GUI</a:t>
            </a:r>
            <a:r>
              <a:rPr lang="zh-CN" altLang="en-US" dirty="0">
                <a:latin typeface="Times New Roman" panose="02020603050405020304" pitchFamily="18" charset="0"/>
                <a:ea typeface="微软雅黑" panose="020B0503020204020204" pitchFamily="34" charset="-122"/>
              </a:rPr>
              <a:t>界面</a:t>
            </a:r>
          </a:p>
        </p:txBody>
      </p:sp>
      <p:sp>
        <p:nvSpPr>
          <p:cNvPr id="13" name="文本框 12"/>
          <p:cNvSpPr txBox="1"/>
          <p:nvPr/>
        </p:nvSpPr>
        <p:spPr>
          <a:xfrm>
            <a:off x="8146372" y="6048758"/>
            <a:ext cx="4154750" cy="369332"/>
          </a:xfrm>
          <a:prstGeom prst="rect">
            <a:avLst/>
          </a:prstGeom>
          <a:noFill/>
        </p:spPr>
        <p:txBody>
          <a:bodyPr wrap="square" rtlCol="0">
            <a:spAutoFit/>
          </a:bodyPr>
          <a:lstStyle/>
          <a:p>
            <a:pPr algn="ctr"/>
            <a:r>
              <a:rPr lang="zh-CN" altLang="en-US" dirty="0">
                <a:latin typeface="Times New Roman" panose="02020603050405020304" pitchFamily="18" charset="0"/>
                <a:ea typeface="微软雅黑" panose="020B0503020204020204" pitchFamily="34" charset="-122"/>
              </a:rPr>
              <a:t>图</a:t>
            </a:r>
            <a:r>
              <a:rPr lang="en-US" altLang="zh-CN" dirty="0">
                <a:latin typeface="Times New Roman" panose="02020603050405020304" pitchFamily="18" charset="0"/>
                <a:ea typeface="微软雅黑" panose="020B0503020204020204" pitchFamily="34" charset="-122"/>
              </a:rPr>
              <a:t>14-16</a:t>
            </a:r>
            <a:r>
              <a:rPr lang="zh-CN" altLang="en-US" dirty="0">
                <a:latin typeface="Times New Roman" panose="02020603050405020304" pitchFamily="18" charset="0"/>
                <a:ea typeface="微软雅黑" panose="020B0503020204020204" pitchFamily="34" charset="-122"/>
              </a:rPr>
              <a:t>空白</a:t>
            </a:r>
            <a:r>
              <a:rPr lang="en-US" altLang="zh-CN" dirty="0">
                <a:latin typeface="Times New Roman" panose="02020603050405020304" pitchFamily="18" charset="0"/>
                <a:ea typeface="微软雅黑" panose="020B0503020204020204" pitchFamily="34" charset="-122"/>
              </a:rPr>
              <a:t>GUI</a:t>
            </a:r>
            <a:r>
              <a:rPr lang="zh-CN" altLang="en-US" dirty="0">
                <a:latin typeface="Times New Roman" panose="02020603050405020304" pitchFamily="18" charset="0"/>
                <a:ea typeface="微软雅黑" panose="020B0503020204020204" pitchFamily="34" charset="-122"/>
              </a:rPr>
              <a:t>界面</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图片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600" y="0"/>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8" name="直接连接符 57"/>
          <p:cNvCxnSpPr/>
          <p:nvPr/>
        </p:nvCxnSpPr>
        <p:spPr>
          <a:xfrm>
            <a:off x="0" y="981590"/>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7" name="Rectangle 3"/>
          <p:cNvSpPr txBox="1"/>
          <p:nvPr/>
        </p:nvSpPr>
        <p:spPr>
          <a:xfrm>
            <a:off x="0" y="952070"/>
            <a:ext cx="12126897" cy="1006475"/>
          </a:xfr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indent="457200">
              <a:lnSpc>
                <a:spcPct val="100000"/>
              </a:lnSpc>
              <a:spcBef>
                <a:spcPts val="0"/>
              </a:spcBef>
              <a:buNone/>
            </a:pPr>
            <a:r>
              <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GUI</a:t>
            </a:r>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界面设计</a:t>
            </a:r>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457200">
              <a:lnSpc>
                <a:spcPct val="100000"/>
              </a:lnSpc>
              <a:spcBef>
                <a:spcPts val="0"/>
              </a:spcBef>
              <a:buNone/>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此案例中，需要用到</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个坐标区，</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个按钮组，</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个按钮，</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11</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个单选按钮</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0">
              <a:buFont typeface="Arial" panose="020B0604020202020204" pitchFamily="34" charset="0"/>
              <a:buNone/>
            </a:pPr>
            <a:endParaRPr lang="en-US" altLang="zh-CN" sz="2400" b="1" dirty="0">
              <a:solidFill>
                <a:srgbClr val="A42806"/>
              </a:solidFill>
              <a:ea typeface="Gulim" panose="020B0600000101010101" pitchFamily="34" charset="-127"/>
            </a:endParaRPr>
          </a:p>
        </p:txBody>
      </p:sp>
      <p:sp>
        <p:nvSpPr>
          <p:cNvPr id="10" name="Rectangle 2"/>
          <p:cNvSpPr txBox="1"/>
          <p:nvPr/>
        </p:nvSpPr>
        <p:spPr>
          <a:xfrm>
            <a:off x="1648460" y="260865"/>
            <a:ext cx="8895080" cy="720725"/>
          </a:xfrm>
        </p:spPr>
        <p:txBody>
          <a:bodyPr vert="horz" wrap="square" lIns="91440" tIns="45720" rIns="91440" bIns="45720"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案例</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4 </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基于</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MATLAB GUI</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的数字图像处理设计</a:t>
            </a:r>
            <a:br>
              <a:rPr lang="zh-CN" altLang="en-US" sz="2800" b="1" dirty="0">
                <a:ln w="0"/>
                <a:effectLst>
                  <a:outerShdw blurRad="38100" dist="19050" dir="2700000" algn="tl" rotWithShape="0">
                    <a:schemeClr val="dk1">
                      <a:alpha val="40000"/>
                    </a:schemeClr>
                  </a:outerShdw>
                </a:effectLst>
                <a:latin typeface="Times New Roman" panose="02020603050405020304" pitchFamily="18" charset="0"/>
                <a:ea typeface="微软雅黑" panose="020B0503020204020204" pitchFamily="34" charset="-122"/>
                <a:cs typeface="Times New Roman" panose="02020603050405020304" pitchFamily="18" charset="0"/>
              </a:rPr>
            </a:br>
            <a:endParaRPr lang="en-US" altLang="zh-CN" sz="2800" b="1" dirty="0">
              <a:ln w="0"/>
              <a:effectLst>
                <a:outerShdw blurRad="38100" dist="19050" dir="2700000" algn="tl" rotWithShape="0">
                  <a:schemeClr val="dk1">
                    <a:alpha val="40000"/>
                  </a:scheme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文本框 1"/>
          <p:cNvSpPr txBox="1"/>
          <p:nvPr/>
        </p:nvSpPr>
        <p:spPr>
          <a:xfrm>
            <a:off x="247297" y="2503504"/>
            <a:ext cx="6551720" cy="1200329"/>
          </a:xfrm>
          <a:prstGeom prst="rect">
            <a:avLst/>
          </a:prstGeom>
          <a:noFill/>
        </p:spPr>
        <p:txBody>
          <a:bodyPr wrap="square" rtlCol="0">
            <a:spAutoFit/>
          </a:bodyPr>
          <a:lstStyle/>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首先，点击左侧</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GUI</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对象选择区的坐标区按钮，并在右侧</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GUI</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布局区绘制</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两个坐标区图形</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。如图</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14-17</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所示。</a:t>
            </a:r>
          </a:p>
        </p:txBody>
      </p:sp>
      <p:pic>
        <p:nvPicPr>
          <p:cNvPr id="14" name="图片 13"/>
          <p:cNvPicPr/>
          <p:nvPr/>
        </p:nvPicPr>
        <p:blipFill>
          <a:blip r:embed="rId4" cstate="print"/>
          <a:stretch>
            <a:fillRect/>
          </a:stretch>
        </p:blipFill>
        <p:spPr>
          <a:xfrm>
            <a:off x="7046314" y="1933660"/>
            <a:ext cx="4357950" cy="2105677"/>
          </a:xfrm>
          <a:prstGeom prst="rect">
            <a:avLst/>
          </a:prstGeom>
        </p:spPr>
      </p:pic>
      <p:pic>
        <p:nvPicPr>
          <p:cNvPr id="15" name="图片 14"/>
          <p:cNvPicPr/>
          <p:nvPr/>
        </p:nvPicPr>
        <p:blipFill>
          <a:blip r:embed="rId5" cstate="print"/>
          <a:stretch>
            <a:fillRect/>
          </a:stretch>
        </p:blipFill>
        <p:spPr>
          <a:xfrm>
            <a:off x="7046314" y="4527612"/>
            <a:ext cx="4357950" cy="1961965"/>
          </a:xfrm>
          <a:prstGeom prst="rect">
            <a:avLst/>
          </a:prstGeom>
        </p:spPr>
      </p:pic>
      <p:sp>
        <p:nvSpPr>
          <p:cNvPr id="16" name="文本框 15"/>
          <p:cNvSpPr txBox="1"/>
          <p:nvPr/>
        </p:nvSpPr>
        <p:spPr>
          <a:xfrm>
            <a:off x="7147914" y="4158280"/>
            <a:ext cx="4154750" cy="369332"/>
          </a:xfrm>
          <a:prstGeom prst="rect">
            <a:avLst/>
          </a:prstGeom>
          <a:noFill/>
        </p:spPr>
        <p:txBody>
          <a:bodyPr wrap="square" rtlCol="0">
            <a:spAutoFit/>
          </a:bodyPr>
          <a:lstStyle/>
          <a:p>
            <a:pPr algn="ctr"/>
            <a:r>
              <a:rPr lang="zh-CN" altLang="en-US" dirty="0">
                <a:latin typeface="Times New Roman" panose="02020603050405020304" pitchFamily="18" charset="0"/>
                <a:ea typeface="微软雅黑" panose="020B0503020204020204" pitchFamily="34" charset="-122"/>
              </a:rPr>
              <a:t>图</a:t>
            </a:r>
            <a:r>
              <a:rPr lang="en-US" altLang="zh-CN" dirty="0">
                <a:latin typeface="Times New Roman" panose="02020603050405020304" pitchFamily="18" charset="0"/>
                <a:ea typeface="微软雅黑" panose="020B0503020204020204" pitchFamily="34" charset="-122"/>
              </a:rPr>
              <a:t>14-17 </a:t>
            </a:r>
            <a:r>
              <a:rPr lang="zh-CN" altLang="en-US" dirty="0">
                <a:latin typeface="Times New Roman" panose="02020603050405020304" pitchFamily="18" charset="0"/>
                <a:ea typeface="微软雅黑" panose="020B0503020204020204" pitchFamily="34" charset="-122"/>
              </a:rPr>
              <a:t>坐标区图形创建</a:t>
            </a:r>
          </a:p>
        </p:txBody>
      </p:sp>
      <p:sp>
        <p:nvSpPr>
          <p:cNvPr id="17" name="文本框 16"/>
          <p:cNvSpPr txBox="1"/>
          <p:nvPr/>
        </p:nvSpPr>
        <p:spPr>
          <a:xfrm>
            <a:off x="7365876" y="6489577"/>
            <a:ext cx="4154750" cy="369332"/>
          </a:xfrm>
          <a:prstGeom prst="rect">
            <a:avLst/>
          </a:prstGeom>
          <a:noFill/>
        </p:spPr>
        <p:txBody>
          <a:bodyPr wrap="square" rtlCol="0">
            <a:spAutoFit/>
          </a:bodyPr>
          <a:lstStyle/>
          <a:p>
            <a:pPr algn="ctr"/>
            <a:r>
              <a:rPr lang="zh-CN" altLang="en-US" dirty="0">
                <a:latin typeface="Times New Roman" panose="02020603050405020304" pitchFamily="18" charset="0"/>
                <a:ea typeface="微软雅黑" panose="020B0503020204020204" pitchFamily="34" charset="-122"/>
              </a:rPr>
              <a:t>图</a:t>
            </a:r>
            <a:r>
              <a:rPr lang="en-US" altLang="zh-CN" dirty="0">
                <a:latin typeface="Times New Roman" panose="02020603050405020304" pitchFamily="18" charset="0"/>
                <a:ea typeface="微软雅黑" panose="020B0503020204020204" pitchFamily="34" charset="-122"/>
              </a:rPr>
              <a:t>14-18 </a:t>
            </a:r>
            <a:r>
              <a:rPr lang="zh-CN" altLang="en-US" dirty="0">
                <a:latin typeface="Times New Roman" panose="02020603050405020304" pitchFamily="18" charset="0"/>
                <a:ea typeface="微软雅黑" panose="020B0503020204020204" pitchFamily="34" charset="-122"/>
              </a:rPr>
              <a:t>按钮图形创建</a:t>
            </a:r>
          </a:p>
        </p:txBody>
      </p:sp>
      <p:sp>
        <p:nvSpPr>
          <p:cNvPr id="18" name="文本框 17"/>
          <p:cNvSpPr txBox="1"/>
          <p:nvPr/>
        </p:nvSpPr>
        <p:spPr>
          <a:xfrm>
            <a:off x="247297" y="4908429"/>
            <a:ext cx="6551720" cy="1200329"/>
          </a:xfrm>
          <a:prstGeom prst="rect">
            <a:avLst/>
          </a:prstGeom>
          <a:noFill/>
        </p:spPr>
        <p:txBody>
          <a:bodyPr wrap="square" rtlCol="0">
            <a:spAutoFit/>
          </a:bodyPr>
          <a:lstStyle/>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点击左侧</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GUI</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对象选择区的普通按钮按钮，在右侧</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GUI</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布局区</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绘制三个按钮图形</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。如图</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14-18</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所示。</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图片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600" y="0"/>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8" name="直接连接符 57"/>
          <p:cNvCxnSpPr/>
          <p:nvPr/>
        </p:nvCxnSpPr>
        <p:spPr>
          <a:xfrm>
            <a:off x="0" y="981590"/>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10" name="Rectangle 2"/>
          <p:cNvSpPr txBox="1"/>
          <p:nvPr/>
        </p:nvSpPr>
        <p:spPr>
          <a:xfrm>
            <a:off x="1648460" y="260865"/>
            <a:ext cx="8895080" cy="720725"/>
          </a:xfrm>
        </p:spPr>
        <p:txBody>
          <a:bodyPr vert="horz" wrap="square" lIns="91440" tIns="45720" rIns="91440" bIns="45720"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案例</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4 </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基于</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MATLAB GUI</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的数字图像处理设计</a:t>
            </a:r>
            <a:b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rPr>
            </a:br>
            <a:endPar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文本框 1"/>
          <p:cNvSpPr txBox="1"/>
          <p:nvPr/>
        </p:nvSpPr>
        <p:spPr>
          <a:xfrm>
            <a:off x="247296" y="1363015"/>
            <a:ext cx="6799017" cy="1569660"/>
          </a:xfrm>
          <a:prstGeom prst="rect">
            <a:avLst/>
          </a:prstGeom>
          <a:noFill/>
        </p:spPr>
        <p:txBody>
          <a:bodyPr wrap="square" rtlCol="0">
            <a:spAutoFit/>
          </a:bodyPr>
          <a:lstStyle/>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鼠标右击</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GUI</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布局区的按钮图形进入</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按钮的属性检查器</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，修改按钮的文本内容，文本颜色，背景颜色，使</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GUI</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界面中的按钮功能明确并且更加美观。如图</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14-19</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所示。</a:t>
            </a:r>
          </a:p>
        </p:txBody>
      </p:sp>
      <p:sp>
        <p:nvSpPr>
          <p:cNvPr id="16" name="文本框 15"/>
          <p:cNvSpPr txBox="1"/>
          <p:nvPr/>
        </p:nvSpPr>
        <p:spPr>
          <a:xfrm>
            <a:off x="7604621" y="3704809"/>
            <a:ext cx="4154750" cy="369332"/>
          </a:xfrm>
          <a:prstGeom prst="rect">
            <a:avLst/>
          </a:prstGeom>
          <a:noFill/>
        </p:spPr>
        <p:txBody>
          <a:bodyPr wrap="square" rtlCol="0">
            <a:spAutoFit/>
          </a:bodyPr>
          <a:lstStyle/>
          <a:p>
            <a:pPr algn="ctr"/>
            <a:r>
              <a:rPr lang="zh-CN" altLang="en-US" dirty="0">
                <a:latin typeface="Times New Roman" panose="02020603050405020304" pitchFamily="18" charset="0"/>
                <a:ea typeface="微软雅黑" panose="020B0503020204020204" pitchFamily="34" charset="-122"/>
              </a:rPr>
              <a:t>图</a:t>
            </a:r>
            <a:r>
              <a:rPr lang="en-US" altLang="zh-CN" dirty="0">
                <a:latin typeface="Times New Roman" panose="02020603050405020304" pitchFamily="18" charset="0"/>
                <a:ea typeface="微软雅黑" panose="020B0503020204020204" pitchFamily="34" charset="-122"/>
              </a:rPr>
              <a:t>14-19</a:t>
            </a:r>
            <a:r>
              <a:rPr lang="zh-CN" altLang="en-US" dirty="0">
                <a:latin typeface="Times New Roman" panose="02020603050405020304" pitchFamily="18" charset="0"/>
                <a:ea typeface="微软雅黑" panose="020B0503020204020204" pitchFamily="34" charset="-122"/>
              </a:rPr>
              <a:t>调整按钮后</a:t>
            </a:r>
          </a:p>
        </p:txBody>
      </p:sp>
      <p:sp>
        <p:nvSpPr>
          <p:cNvPr id="17" name="文本框 16"/>
          <p:cNvSpPr txBox="1"/>
          <p:nvPr/>
        </p:nvSpPr>
        <p:spPr>
          <a:xfrm>
            <a:off x="7604621" y="6435402"/>
            <a:ext cx="4154750" cy="369332"/>
          </a:xfrm>
          <a:prstGeom prst="rect">
            <a:avLst/>
          </a:prstGeom>
          <a:noFill/>
        </p:spPr>
        <p:txBody>
          <a:bodyPr wrap="square" rtlCol="0">
            <a:spAutoFit/>
          </a:bodyPr>
          <a:lstStyle/>
          <a:p>
            <a:pPr algn="ctr"/>
            <a:r>
              <a:rPr lang="zh-CN" altLang="en-US" dirty="0">
                <a:latin typeface="Times New Roman" panose="02020603050405020304" pitchFamily="18" charset="0"/>
                <a:ea typeface="微软雅黑" panose="020B0503020204020204" pitchFamily="34" charset="-122"/>
              </a:rPr>
              <a:t>图</a:t>
            </a:r>
            <a:r>
              <a:rPr lang="en-US" altLang="zh-CN" dirty="0">
                <a:latin typeface="Times New Roman" panose="02020603050405020304" pitchFamily="18" charset="0"/>
                <a:ea typeface="微软雅黑" panose="020B0503020204020204" pitchFamily="34" charset="-122"/>
              </a:rPr>
              <a:t>14-20 </a:t>
            </a:r>
            <a:r>
              <a:rPr lang="zh-CN" altLang="en-US" dirty="0">
                <a:latin typeface="Times New Roman" panose="02020603050405020304" pitchFamily="18" charset="0"/>
                <a:ea typeface="微软雅黑" panose="020B0503020204020204" pitchFamily="34" charset="-122"/>
              </a:rPr>
              <a:t>创建按钮组图形</a:t>
            </a:r>
          </a:p>
        </p:txBody>
      </p:sp>
      <p:sp>
        <p:nvSpPr>
          <p:cNvPr id="18" name="文本框 17"/>
          <p:cNvSpPr txBox="1"/>
          <p:nvPr/>
        </p:nvSpPr>
        <p:spPr>
          <a:xfrm>
            <a:off x="247297" y="4908429"/>
            <a:ext cx="6551720" cy="830997"/>
          </a:xfrm>
          <a:prstGeom prst="rect">
            <a:avLst/>
          </a:prstGeom>
          <a:noFill/>
        </p:spPr>
        <p:txBody>
          <a:bodyPr wrap="square" rtlCol="0">
            <a:spAutoFit/>
          </a:bodyPr>
          <a:lstStyle/>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点击左侧</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GUI</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对象选择区的</a:t>
            </a:r>
            <a:r>
              <a:rPr lang="zh-CN" altLang="en-US" sz="24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按钮组按钮</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，在右侧</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GUI</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布局区绘制两个按钮图形，如图</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14-20</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所示。</a:t>
            </a:r>
          </a:p>
        </p:txBody>
      </p:sp>
      <p:pic>
        <p:nvPicPr>
          <p:cNvPr id="12" name="图片 11"/>
          <p:cNvPicPr/>
          <p:nvPr/>
        </p:nvPicPr>
        <p:blipFill>
          <a:blip r:embed="rId4" cstate="print"/>
          <a:stretch>
            <a:fillRect/>
          </a:stretch>
        </p:blipFill>
        <p:spPr>
          <a:xfrm>
            <a:off x="7264276" y="1018883"/>
            <a:ext cx="4357950" cy="2601787"/>
          </a:xfrm>
          <a:prstGeom prst="rect">
            <a:avLst/>
          </a:prstGeom>
        </p:spPr>
      </p:pic>
      <p:pic>
        <p:nvPicPr>
          <p:cNvPr id="13" name="图片 12"/>
          <p:cNvPicPr/>
          <p:nvPr/>
        </p:nvPicPr>
        <p:blipFill>
          <a:blip r:embed="rId5" cstate="print"/>
          <a:stretch>
            <a:fillRect/>
          </a:stretch>
        </p:blipFill>
        <p:spPr>
          <a:xfrm>
            <a:off x="7264277" y="4158280"/>
            <a:ext cx="4357950" cy="226915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图片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600" y="0"/>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8" name="直接连接符 57"/>
          <p:cNvCxnSpPr/>
          <p:nvPr/>
        </p:nvCxnSpPr>
        <p:spPr>
          <a:xfrm>
            <a:off x="0" y="981590"/>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10" name="Rectangle 2"/>
          <p:cNvSpPr txBox="1"/>
          <p:nvPr/>
        </p:nvSpPr>
        <p:spPr>
          <a:xfrm>
            <a:off x="1648460" y="260865"/>
            <a:ext cx="8895080" cy="720725"/>
          </a:xfrm>
        </p:spPr>
        <p:txBody>
          <a:bodyPr vert="horz" wrap="square" lIns="91440" tIns="45720" rIns="91440" bIns="45720"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案例</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4 </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基于</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MATLAB GUI</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的数字图像处理设计</a:t>
            </a:r>
            <a:br>
              <a:rPr lang="zh-CN" altLang="en-US" sz="2800" b="1" dirty="0">
                <a:ln w="0"/>
                <a:effectLst>
                  <a:outerShdw blurRad="38100" dist="19050" dir="2700000" algn="tl" rotWithShape="0">
                    <a:schemeClr val="dk1">
                      <a:alpha val="40000"/>
                    </a:schemeClr>
                  </a:outerShdw>
                </a:effectLst>
                <a:latin typeface="Times New Roman" panose="02020603050405020304" pitchFamily="18" charset="0"/>
                <a:ea typeface="微软雅黑" panose="020B0503020204020204" pitchFamily="34" charset="-122"/>
                <a:cs typeface="Times New Roman" panose="02020603050405020304" pitchFamily="18" charset="0"/>
              </a:rPr>
            </a:br>
            <a:endParaRPr lang="en-US" altLang="zh-CN" sz="2800" b="1" dirty="0">
              <a:ln w="0"/>
              <a:effectLst>
                <a:outerShdw blurRad="38100" dist="19050" dir="2700000" algn="tl" rotWithShape="0">
                  <a:schemeClr val="dk1">
                    <a:alpha val="40000"/>
                  </a:scheme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文本框 1"/>
          <p:cNvSpPr txBox="1"/>
          <p:nvPr/>
        </p:nvSpPr>
        <p:spPr>
          <a:xfrm>
            <a:off x="247296" y="1363015"/>
            <a:ext cx="6799017" cy="1569660"/>
          </a:xfrm>
          <a:prstGeom prst="rect">
            <a:avLst/>
          </a:prstGeom>
          <a:noFill/>
        </p:spPr>
        <p:txBody>
          <a:bodyPr wrap="square" rtlCol="0">
            <a:spAutoFit/>
          </a:bodyPr>
          <a:lstStyle/>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鼠标右击</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GUI</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布局区的按钮组图形进入</a:t>
            </a:r>
            <a:r>
              <a:rPr lang="zh-CN" altLang="en-US" sz="24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按钮组的属性检查器</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，修改按钮的文本内容，文本颜色，背景颜色，使</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GUI</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界面中的按钮功能明确并且更加美观。如图</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14-21</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所示。</a:t>
            </a:r>
          </a:p>
        </p:txBody>
      </p:sp>
      <p:sp>
        <p:nvSpPr>
          <p:cNvPr id="16" name="文本框 15"/>
          <p:cNvSpPr txBox="1"/>
          <p:nvPr/>
        </p:nvSpPr>
        <p:spPr>
          <a:xfrm>
            <a:off x="7604621" y="3704809"/>
            <a:ext cx="4154750" cy="369332"/>
          </a:xfrm>
          <a:prstGeom prst="rect">
            <a:avLst/>
          </a:prstGeom>
          <a:noFill/>
        </p:spPr>
        <p:txBody>
          <a:bodyPr wrap="square" rtlCol="0">
            <a:spAutoFit/>
          </a:bodyPr>
          <a:lstStyle/>
          <a:p>
            <a:pPr algn="ctr"/>
            <a:r>
              <a:rPr lang="zh-CN" altLang="en-US" dirty="0">
                <a:latin typeface="Times New Roman" panose="02020603050405020304" pitchFamily="18" charset="0"/>
                <a:ea typeface="微软雅黑" panose="020B0503020204020204" pitchFamily="34" charset="-122"/>
              </a:rPr>
              <a:t>图</a:t>
            </a:r>
            <a:r>
              <a:rPr lang="en-US" altLang="zh-CN" dirty="0">
                <a:latin typeface="Times New Roman" panose="02020603050405020304" pitchFamily="18" charset="0"/>
                <a:ea typeface="微软雅黑" panose="020B0503020204020204" pitchFamily="34" charset="-122"/>
              </a:rPr>
              <a:t>14-21</a:t>
            </a:r>
            <a:r>
              <a:rPr lang="zh-CN" altLang="en-US" dirty="0">
                <a:latin typeface="Times New Roman" panose="02020603050405020304" pitchFamily="18" charset="0"/>
                <a:ea typeface="微软雅黑" panose="020B0503020204020204" pitchFamily="34" charset="-122"/>
              </a:rPr>
              <a:t>调整按钮组后</a:t>
            </a:r>
          </a:p>
        </p:txBody>
      </p:sp>
      <p:sp>
        <p:nvSpPr>
          <p:cNvPr id="17" name="文本框 16"/>
          <p:cNvSpPr txBox="1"/>
          <p:nvPr/>
        </p:nvSpPr>
        <p:spPr>
          <a:xfrm>
            <a:off x="7365876" y="6489577"/>
            <a:ext cx="4154750" cy="369332"/>
          </a:xfrm>
          <a:prstGeom prst="rect">
            <a:avLst/>
          </a:prstGeom>
          <a:noFill/>
        </p:spPr>
        <p:txBody>
          <a:bodyPr wrap="square" rtlCol="0">
            <a:spAutoFit/>
          </a:bodyPr>
          <a:lstStyle/>
          <a:p>
            <a:pPr algn="ctr"/>
            <a:r>
              <a:rPr lang="zh-CN" altLang="en-US" dirty="0">
                <a:latin typeface="Times New Roman" panose="02020603050405020304" pitchFamily="18" charset="0"/>
                <a:ea typeface="微软雅黑" panose="020B0503020204020204" pitchFamily="34" charset="-122"/>
              </a:rPr>
              <a:t>图</a:t>
            </a:r>
            <a:r>
              <a:rPr lang="en-US" altLang="zh-CN" dirty="0">
                <a:latin typeface="Times New Roman" panose="02020603050405020304" pitchFamily="18" charset="0"/>
                <a:ea typeface="微软雅黑" panose="020B0503020204020204" pitchFamily="34" charset="-122"/>
              </a:rPr>
              <a:t>14-22</a:t>
            </a:r>
            <a:r>
              <a:rPr lang="zh-CN" altLang="en-US" dirty="0">
                <a:latin typeface="Times New Roman" panose="02020603050405020304" pitchFamily="18" charset="0"/>
                <a:ea typeface="微软雅黑" panose="020B0503020204020204" pitchFamily="34" charset="-122"/>
              </a:rPr>
              <a:t>创建单选按钮图形</a:t>
            </a:r>
          </a:p>
        </p:txBody>
      </p:sp>
      <p:sp>
        <p:nvSpPr>
          <p:cNvPr id="18" name="文本框 17"/>
          <p:cNvSpPr txBox="1"/>
          <p:nvPr/>
        </p:nvSpPr>
        <p:spPr>
          <a:xfrm>
            <a:off x="247297" y="4908429"/>
            <a:ext cx="6551720" cy="1200329"/>
          </a:xfrm>
          <a:prstGeom prst="rect">
            <a:avLst/>
          </a:prstGeom>
          <a:noFill/>
        </p:spPr>
        <p:txBody>
          <a:bodyPr wrap="square" rtlCol="0">
            <a:spAutoFit/>
          </a:bodyPr>
          <a:lstStyle/>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点击左侧</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GUI</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对象选择区的单选按钮按钮，在右侧</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GUI</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布局区绘制两个</a:t>
            </a:r>
            <a:r>
              <a:rPr lang="zh-CN" altLang="en-US" sz="24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单选按钮图形</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，如图</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14-22</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所示。</a:t>
            </a:r>
          </a:p>
        </p:txBody>
      </p:sp>
      <p:pic>
        <p:nvPicPr>
          <p:cNvPr id="11" name="图片 10"/>
          <p:cNvPicPr/>
          <p:nvPr/>
        </p:nvPicPr>
        <p:blipFill>
          <a:blip r:embed="rId4" cstate="print"/>
          <a:stretch>
            <a:fillRect/>
          </a:stretch>
        </p:blipFill>
        <p:spPr>
          <a:xfrm>
            <a:off x="7264277" y="1267340"/>
            <a:ext cx="4357949" cy="2292599"/>
          </a:xfrm>
          <a:prstGeom prst="rect">
            <a:avLst/>
          </a:prstGeom>
        </p:spPr>
      </p:pic>
      <p:pic>
        <p:nvPicPr>
          <p:cNvPr id="14" name="图片 13"/>
          <p:cNvPicPr/>
          <p:nvPr/>
        </p:nvPicPr>
        <p:blipFill>
          <a:blip r:embed="rId5" cstate="print"/>
          <a:stretch>
            <a:fillRect/>
          </a:stretch>
        </p:blipFill>
        <p:spPr>
          <a:xfrm>
            <a:off x="7264277" y="4132948"/>
            <a:ext cx="4357949" cy="235662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图片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600" y="0"/>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8" name="直接连接符 57"/>
          <p:cNvCxnSpPr/>
          <p:nvPr/>
        </p:nvCxnSpPr>
        <p:spPr>
          <a:xfrm>
            <a:off x="0" y="981590"/>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10" name="Rectangle 2"/>
          <p:cNvSpPr txBox="1"/>
          <p:nvPr/>
        </p:nvSpPr>
        <p:spPr>
          <a:xfrm>
            <a:off x="1648460" y="260865"/>
            <a:ext cx="8895080" cy="720725"/>
          </a:xfrm>
        </p:spPr>
        <p:txBody>
          <a:bodyPr vert="horz" wrap="square" lIns="91440" tIns="45720" rIns="91440" bIns="45720"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案例</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4 </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基于</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MATLAB GUI</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的数字图像处理设计</a:t>
            </a:r>
            <a:br>
              <a:rPr lang="zh-CN" altLang="en-US" sz="2800" b="1" dirty="0">
                <a:ln w="0"/>
                <a:effectLst>
                  <a:outerShdw blurRad="38100" dist="38100" dir="2700000" algn="tl">
                    <a:srgbClr val="000000">
                      <a:alpha val="43137"/>
                    </a:srgbClr>
                  </a:outerShdw>
                </a:effectLst>
                <a:ea typeface="宋体" panose="02010600030101010101" pitchFamily="2" charset="-122"/>
              </a:rPr>
            </a:br>
            <a:endParaRPr lang="en-US" altLang="zh-CN" sz="2800" b="1" dirty="0">
              <a:ln w="0"/>
              <a:effectLst>
                <a:outerShdw blurRad="38100" dist="38100" dir="2700000" algn="tl">
                  <a:srgbClr val="000000">
                    <a:alpha val="43137"/>
                  </a:srgbClr>
                </a:outerShdw>
              </a:effectLst>
              <a:ea typeface="宋体" panose="02010600030101010101" pitchFamily="2" charset="-122"/>
            </a:endParaRPr>
          </a:p>
        </p:txBody>
      </p:sp>
      <p:sp>
        <p:nvSpPr>
          <p:cNvPr id="2" name="文本框 1"/>
          <p:cNvSpPr txBox="1"/>
          <p:nvPr/>
        </p:nvSpPr>
        <p:spPr>
          <a:xfrm>
            <a:off x="0" y="1147068"/>
            <a:ext cx="12115060" cy="1200329"/>
          </a:xfrm>
          <a:prstGeom prst="rect">
            <a:avLst/>
          </a:prstGeom>
          <a:noFill/>
        </p:spPr>
        <p:txBody>
          <a:bodyPr wrap="square" rtlCol="0">
            <a:spAutoFit/>
          </a:bodyPr>
          <a:lstStyle/>
          <a:p>
            <a:pPr indent="457200"/>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鼠标右击</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GUI</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布局区的单选按钮图形进入</a:t>
            </a:r>
            <a:r>
              <a:rPr lang="zh-CN" altLang="en-US" sz="24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单选按钮的属性检查器</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，修改单选按钮的文本内容，文本颜色，背景颜色，使</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GUI</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界面中的按钮功能明确并且更加美观。如图</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14-23</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所示。</a:t>
            </a:r>
          </a:p>
        </p:txBody>
      </p:sp>
      <p:sp>
        <p:nvSpPr>
          <p:cNvPr id="17" name="文本框 16"/>
          <p:cNvSpPr txBox="1"/>
          <p:nvPr/>
        </p:nvSpPr>
        <p:spPr>
          <a:xfrm>
            <a:off x="3717725" y="6116715"/>
            <a:ext cx="5504896" cy="369332"/>
          </a:xfrm>
          <a:prstGeom prst="rect">
            <a:avLst/>
          </a:prstGeom>
          <a:noFill/>
        </p:spPr>
        <p:txBody>
          <a:bodyPr wrap="square" rtlCol="0">
            <a:spAutoFit/>
          </a:bodyPr>
          <a:lstStyle/>
          <a:p>
            <a:pPr algn="ctr"/>
            <a:r>
              <a:rPr lang="zh-CN" altLang="en-US" dirty="0">
                <a:latin typeface="Times New Roman" panose="02020603050405020304" pitchFamily="18" charset="0"/>
                <a:ea typeface="微软雅黑" panose="020B0503020204020204" pitchFamily="34" charset="-122"/>
              </a:rPr>
              <a:t>图</a:t>
            </a:r>
            <a:r>
              <a:rPr lang="en-US" altLang="zh-CN" dirty="0">
                <a:latin typeface="Times New Roman" panose="02020603050405020304" pitchFamily="18" charset="0"/>
                <a:ea typeface="微软雅黑" panose="020B0503020204020204" pitchFamily="34" charset="-122"/>
              </a:rPr>
              <a:t>14-23 </a:t>
            </a:r>
            <a:r>
              <a:rPr lang="zh-CN" altLang="en-US" dirty="0">
                <a:latin typeface="Times New Roman" panose="02020603050405020304" pitchFamily="18" charset="0"/>
                <a:ea typeface="微软雅黑" panose="020B0503020204020204" pitchFamily="34" charset="-122"/>
              </a:rPr>
              <a:t>调整单选按钮后（完成后的</a:t>
            </a:r>
            <a:r>
              <a:rPr lang="en-US" altLang="zh-CN" dirty="0">
                <a:latin typeface="Times New Roman" panose="02020603050405020304" pitchFamily="18" charset="0"/>
                <a:ea typeface="微软雅黑" panose="020B0503020204020204" pitchFamily="34" charset="-122"/>
              </a:rPr>
              <a:t>GUI</a:t>
            </a:r>
            <a:r>
              <a:rPr lang="zh-CN" altLang="en-US" dirty="0">
                <a:latin typeface="Times New Roman" panose="02020603050405020304" pitchFamily="18" charset="0"/>
                <a:ea typeface="微软雅黑" panose="020B0503020204020204" pitchFamily="34" charset="-122"/>
              </a:rPr>
              <a:t>设计界面</a:t>
            </a:r>
            <a:r>
              <a:rPr lang="zh-CN" altLang="en-US" b="1" dirty="0">
                <a:latin typeface="Times New Roman" panose="02020603050405020304" pitchFamily="18" charset="0"/>
                <a:ea typeface="微软雅黑" panose="020B0503020204020204" pitchFamily="34" charset="-122"/>
              </a:rPr>
              <a:t>）</a:t>
            </a:r>
          </a:p>
        </p:txBody>
      </p:sp>
      <p:pic>
        <p:nvPicPr>
          <p:cNvPr id="12" name="图片 11"/>
          <p:cNvPicPr/>
          <p:nvPr/>
        </p:nvPicPr>
        <p:blipFill>
          <a:blip r:embed="rId4" cstate="print"/>
          <a:stretch>
            <a:fillRect/>
          </a:stretch>
        </p:blipFill>
        <p:spPr>
          <a:xfrm>
            <a:off x="2991775" y="2487991"/>
            <a:ext cx="6933460" cy="328513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图片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600" y="0"/>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8" name="直接连接符 57"/>
          <p:cNvCxnSpPr/>
          <p:nvPr/>
        </p:nvCxnSpPr>
        <p:spPr>
          <a:xfrm>
            <a:off x="0" y="981590"/>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7" name="Rectangle 3"/>
          <p:cNvSpPr txBox="1"/>
          <p:nvPr/>
        </p:nvSpPr>
        <p:spPr>
          <a:xfrm>
            <a:off x="-71023" y="1006475"/>
            <a:ext cx="12263023" cy="5905930"/>
          </a:xfr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57200">
              <a:lnSpc>
                <a:spcPct val="100000"/>
              </a:lnSpc>
              <a:spcBef>
                <a:spcPts val="0"/>
              </a:spcBef>
              <a:buFont typeface="Wingdings" panose="05000000000000000000" pitchFamily="2" charset="2"/>
              <a:buChar char="l"/>
            </a:pPr>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回调函数</a:t>
            </a:r>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457200">
              <a:lnSpc>
                <a:spcPct val="100000"/>
              </a:lnSpc>
              <a:spcBef>
                <a:spcPts val="0"/>
              </a:spcBef>
              <a:buNone/>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鼠标</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右击</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GUI</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布局区的文本设置为读取的普通按钮图形，在查看回调选项的拓展栏上点击</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callback</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选项</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。在该按钮的回调函数下编写如下命令。</a:t>
            </a:r>
          </a:p>
          <a:p>
            <a:pPr marL="0" indent="457200">
              <a:lnSpc>
                <a:spcPct val="100000"/>
              </a:lnSpc>
              <a:spcBef>
                <a:spcPts val="0"/>
              </a:spcBef>
              <a:buNone/>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定义全局变量</a:t>
            </a:r>
          </a:p>
          <a:p>
            <a:pPr marL="0" indent="457200">
              <a:lnSpc>
                <a:spcPct val="100000"/>
              </a:lnSpc>
              <a:spcBef>
                <a:spcPts val="0"/>
              </a:spcBef>
              <a:buNone/>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global </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im</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p>
          <a:p>
            <a:pPr marL="0" indent="457200">
              <a:lnSpc>
                <a:spcPct val="100000"/>
              </a:lnSpc>
              <a:spcBef>
                <a:spcPts val="0"/>
              </a:spcBef>
              <a:buNone/>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选择图片路径以及格式</a:t>
            </a:r>
          </a:p>
          <a:p>
            <a:pPr marL="0" indent="457200">
              <a:lnSpc>
                <a:spcPct val="100000"/>
              </a:lnSpc>
              <a:spcBef>
                <a:spcPts val="0"/>
              </a:spcBef>
              <a:buNone/>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[filename, pathname] = </a:t>
            </a:r>
            <a:r>
              <a:rPr lang="en-US" altLang="zh-CN" sz="2400" b="1"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uigetfile</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({'*.jpg';'*.bmp';'*.gif'},'select picture');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合成路径加文件名</a:t>
            </a:r>
          </a:p>
          <a:p>
            <a:pPr marL="0" indent="457200">
              <a:lnSpc>
                <a:spcPct val="100000"/>
              </a:lnSpc>
              <a:spcBef>
                <a:spcPts val="0"/>
              </a:spcBef>
              <a:buNone/>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str = [pathname filename];</a:t>
            </a:r>
          </a:p>
          <a:p>
            <a:pPr marL="0" indent="457200">
              <a:lnSpc>
                <a:spcPct val="100000"/>
              </a:lnSpc>
              <a:spcBef>
                <a:spcPts val="0"/>
              </a:spcBef>
              <a:buNone/>
            </a:pP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im</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400" b="1"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imread</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(str);</a:t>
            </a:r>
          </a:p>
          <a:p>
            <a:pPr marL="0" indent="457200">
              <a:lnSpc>
                <a:spcPct val="100000"/>
              </a:lnSpc>
              <a:spcBef>
                <a:spcPts val="0"/>
              </a:spcBef>
              <a:buNone/>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使用第一个</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axes</a:t>
            </a:r>
          </a:p>
          <a:p>
            <a:pPr marL="0" indent="457200">
              <a:lnSpc>
                <a:spcPct val="100000"/>
              </a:lnSpc>
              <a:spcBef>
                <a:spcPts val="0"/>
              </a:spcBef>
              <a:buNone/>
            </a:pPr>
            <a:r>
              <a:rPr lang="en-US" altLang="zh-CN" sz="2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axes(handles.axes1);</a:t>
            </a:r>
          </a:p>
          <a:p>
            <a:pPr marL="0" indent="457200">
              <a:lnSpc>
                <a:spcPct val="100000"/>
              </a:lnSpc>
              <a:spcBef>
                <a:spcPts val="0"/>
              </a:spcBef>
              <a:buNone/>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显示图片</a:t>
            </a:r>
          </a:p>
          <a:p>
            <a:pPr marL="0" indent="457200">
              <a:lnSpc>
                <a:spcPct val="100000"/>
              </a:lnSpc>
              <a:spcBef>
                <a:spcPts val="0"/>
              </a:spcBef>
              <a:buNone/>
            </a:pPr>
            <a:r>
              <a:rPr lang="en-US" altLang="zh-CN" sz="2400" b="1"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imshow</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im</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p>
          <a:p>
            <a:pPr marL="0" indent="457200">
              <a:lnSpc>
                <a:spcPct val="150000"/>
              </a:lnSpc>
              <a:spcBef>
                <a:spcPts val="0"/>
              </a:spcBef>
              <a:buNone/>
            </a:pPr>
            <a:endParaRPr lang="zh-CN" altLang="en-US" sz="2400" b="1" dirty="0">
              <a:latin typeface="Times New Roman" panose="02020603050405020304" pitchFamily="18" charset="0"/>
              <a:ea typeface="宋体" panose="02010600030101010101" pitchFamily="2" charset="-122"/>
              <a:cs typeface="Times New Roman" panose="02020603050405020304" pitchFamily="18" charset="0"/>
            </a:endParaRPr>
          </a:p>
          <a:p>
            <a:pPr marL="0" indent="457200">
              <a:lnSpc>
                <a:spcPct val="100000"/>
              </a:lnSpc>
              <a:spcBef>
                <a:spcPts val="0"/>
              </a:spcBef>
              <a:buNone/>
            </a:pP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pPr marL="0" indent="457200">
              <a:lnSpc>
                <a:spcPct val="100000"/>
              </a:lnSpc>
              <a:spcBef>
                <a:spcPts val="0"/>
              </a:spcBef>
              <a:buNone/>
            </a:pPr>
            <a:endParaRPr lang="en-US" altLang="zh-CN" sz="2400" b="1" dirty="0">
              <a:ea typeface="宋体" panose="02010600030101010101" pitchFamily="2" charset="-122"/>
            </a:endParaRPr>
          </a:p>
          <a:p>
            <a:pPr marL="0" indent="0">
              <a:buFont typeface="Arial" panose="020B0604020202020204" pitchFamily="34" charset="0"/>
              <a:buNone/>
            </a:pPr>
            <a:endParaRPr lang="en-US" altLang="zh-CN" sz="2400" b="1" dirty="0">
              <a:solidFill>
                <a:srgbClr val="A42806"/>
              </a:solidFill>
              <a:ea typeface="Gulim" panose="020B0600000101010101" pitchFamily="34" charset="-127"/>
            </a:endParaRPr>
          </a:p>
        </p:txBody>
      </p:sp>
      <p:sp>
        <p:nvSpPr>
          <p:cNvPr id="6" name="Rectangle 2"/>
          <p:cNvSpPr txBox="1"/>
          <p:nvPr/>
        </p:nvSpPr>
        <p:spPr>
          <a:xfrm>
            <a:off x="1648460" y="260865"/>
            <a:ext cx="8895080" cy="720725"/>
          </a:xfrm>
        </p:spPr>
        <p:txBody>
          <a:bodyPr vert="horz" wrap="square" lIns="91440" tIns="45720" rIns="91440" bIns="45720"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案例</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4 </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基于</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MATLAB GUI</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的数字图像处理设计</a:t>
            </a:r>
            <a:br>
              <a:rPr lang="zh-CN" altLang="en-US" sz="2800" b="1" dirty="0">
                <a:ln w="0"/>
                <a:effectLst>
                  <a:outerShdw blurRad="38100" dist="38100" dir="2700000" algn="tl">
                    <a:srgbClr val="000000">
                      <a:alpha val="43137"/>
                    </a:srgbClr>
                  </a:outerShdw>
                </a:effectLst>
                <a:ea typeface="宋体" panose="02010600030101010101" pitchFamily="2" charset="-122"/>
              </a:rPr>
            </a:br>
            <a:endParaRPr lang="en-US" altLang="zh-CN" sz="2800" b="1" dirty="0">
              <a:ln w="0"/>
              <a:effectLst>
                <a:outerShdw blurRad="38100" dist="38100" dir="2700000" algn="tl">
                  <a:srgbClr val="000000">
                    <a:alpha val="43137"/>
                  </a:srgbClr>
                </a:outerShdw>
              </a:effectLst>
              <a:ea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图片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600" y="0"/>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8" name="直接连接符 57"/>
          <p:cNvCxnSpPr/>
          <p:nvPr/>
        </p:nvCxnSpPr>
        <p:spPr>
          <a:xfrm>
            <a:off x="0" y="981590"/>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7" name="Rectangle 3"/>
          <p:cNvSpPr txBox="1"/>
          <p:nvPr/>
        </p:nvSpPr>
        <p:spPr>
          <a:xfrm>
            <a:off x="-71023" y="1006475"/>
            <a:ext cx="12263023" cy="5905930"/>
          </a:xfr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200000"/>
              </a:lnSpc>
              <a:spcBef>
                <a:spcPts val="0"/>
              </a:spcBef>
              <a:buNone/>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鼠标右击</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GUI</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布局区的文本设置为</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灰度直方图的普通按钮图形</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，在查看回调选项的拓展栏上点击</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callback</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选项。在该按钮的回调函数下编写如下命令。</a:t>
            </a:r>
          </a:p>
          <a:p>
            <a:pPr marL="0" indent="457200">
              <a:lnSpc>
                <a:spcPct val="200000"/>
              </a:lnSpc>
              <a:spcBef>
                <a:spcPts val="0"/>
              </a:spcBef>
              <a:buNone/>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im2 = </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rgb2gray</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im</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p>
          <a:p>
            <a:pPr marL="0" indent="457200">
              <a:lnSpc>
                <a:spcPct val="200000"/>
              </a:lnSpc>
              <a:spcBef>
                <a:spcPts val="0"/>
              </a:spcBef>
              <a:buNone/>
            </a:pPr>
            <a:r>
              <a:rPr lang="en-US" altLang="zh-CN" sz="2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axes(handles.axes2);</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使用第二个</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axes</a:t>
            </a:r>
          </a:p>
          <a:p>
            <a:pPr marL="0" indent="457200">
              <a:lnSpc>
                <a:spcPct val="200000"/>
              </a:lnSpc>
              <a:spcBef>
                <a:spcPts val="0"/>
              </a:spcBef>
              <a:buNone/>
            </a:pPr>
            <a:r>
              <a:rPr lang="en-US" altLang="zh-CN" sz="2400" b="1" dirty="0" err="1">
                <a:latin typeface="Times New Roman" panose="02020603050405020304" pitchFamily="18" charset="0"/>
                <a:ea typeface="微软雅黑" panose="020B0503020204020204" pitchFamily="34" charset="-122"/>
                <a:cs typeface="Times New Roman" panose="02020603050405020304" pitchFamily="18" charset="0"/>
              </a:rPr>
              <a:t>imhist</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(im2)</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显示图片</a:t>
            </a:r>
          </a:p>
          <a:p>
            <a:pPr marL="0" indent="457200">
              <a:lnSpc>
                <a:spcPct val="150000"/>
              </a:lnSpc>
              <a:spcBef>
                <a:spcPts val="0"/>
              </a:spcBef>
              <a:buNone/>
            </a:pPr>
            <a:endParaRPr lang="zh-CN" altLang="en-US" sz="2400" b="1" dirty="0">
              <a:latin typeface="Times New Roman" panose="02020603050405020304" pitchFamily="18" charset="0"/>
              <a:ea typeface="宋体" panose="02010600030101010101" pitchFamily="2" charset="-122"/>
              <a:cs typeface="Times New Roman" panose="02020603050405020304" pitchFamily="18" charset="0"/>
            </a:endParaRPr>
          </a:p>
          <a:p>
            <a:pPr marL="0" indent="457200">
              <a:lnSpc>
                <a:spcPct val="100000"/>
              </a:lnSpc>
              <a:spcBef>
                <a:spcPts val="0"/>
              </a:spcBef>
              <a:buNone/>
            </a:pP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pPr marL="0" indent="457200">
              <a:lnSpc>
                <a:spcPct val="100000"/>
              </a:lnSpc>
              <a:spcBef>
                <a:spcPts val="0"/>
              </a:spcBef>
              <a:buNone/>
            </a:pPr>
            <a:endParaRPr lang="en-US" altLang="zh-CN" sz="2400" b="1" dirty="0">
              <a:ea typeface="宋体" panose="02010600030101010101" pitchFamily="2" charset="-122"/>
            </a:endParaRPr>
          </a:p>
          <a:p>
            <a:pPr marL="0" indent="0">
              <a:buFont typeface="Arial" panose="020B0604020202020204" pitchFamily="34" charset="0"/>
              <a:buNone/>
            </a:pPr>
            <a:endParaRPr lang="en-US" altLang="zh-CN" sz="2400" b="1" dirty="0">
              <a:solidFill>
                <a:srgbClr val="A42806"/>
              </a:solidFill>
              <a:ea typeface="Gulim" panose="020B0600000101010101" pitchFamily="34" charset="-127"/>
            </a:endParaRPr>
          </a:p>
        </p:txBody>
      </p:sp>
      <p:sp>
        <p:nvSpPr>
          <p:cNvPr id="6" name="Rectangle 2"/>
          <p:cNvSpPr txBox="1"/>
          <p:nvPr/>
        </p:nvSpPr>
        <p:spPr>
          <a:xfrm>
            <a:off x="1648460" y="260865"/>
            <a:ext cx="8895080" cy="720725"/>
          </a:xfrm>
        </p:spPr>
        <p:txBody>
          <a:bodyPr vert="horz" wrap="square" lIns="91440" tIns="45720" rIns="91440" bIns="45720"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案例</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4 </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基于</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MATLAB GUI</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的数字图像处理设计</a:t>
            </a:r>
            <a:br>
              <a:rPr lang="zh-CN" altLang="en-US" sz="2800" b="1" dirty="0">
                <a:ln w="0"/>
                <a:effectLst>
                  <a:outerShdw blurRad="38100" dist="38100" dir="2700000" algn="tl">
                    <a:srgbClr val="000000">
                      <a:alpha val="43137"/>
                    </a:srgbClr>
                  </a:outerShdw>
                </a:effectLst>
                <a:ea typeface="宋体" panose="02010600030101010101" pitchFamily="2" charset="-122"/>
              </a:rPr>
            </a:br>
            <a:endParaRPr lang="en-US" altLang="zh-CN" sz="2800" b="1" dirty="0">
              <a:ln w="0"/>
              <a:effectLst>
                <a:outerShdw blurRad="38100" dist="38100" dir="2700000" algn="tl">
                  <a:srgbClr val="000000">
                    <a:alpha val="43137"/>
                  </a:srgbClr>
                </a:outerShdw>
              </a:effectLst>
              <a:ea typeface="宋体" panose="0201060003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6" name="图片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10600" y="0"/>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8" name="直接连接符 57"/>
          <p:cNvCxnSpPr/>
          <p:nvPr/>
        </p:nvCxnSpPr>
        <p:spPr>
          <a:xfrm>
            <a:off x="0" y="981590"/>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7" name="Rectangle 3"/>
          <p:cNvSpPr txBox="1"/>
          <p:nvPr/>
        </p:nvSpPr>
        <p:spPr>
          <a:xfrm>
            <a:off x="-71023" y="1006475"/>
            <a:ext cx="12263023" cy="5905930"/>
          </a:xfr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00000"/>
              </a:lnSpc>
              <a:spcBef>
                <a:spcPts val="0"/>
              </a:spcBef>
              <a:buNone/>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鼠标右击</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GUI</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布局区的</a:t>
            </a:r>
            <a:r>
              <a:rPr lang="zh-CN" altLang="en-US" sz="24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边缘检测按钮组图形</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上（注意不要点击单选按钮），在查看回调选项的拓展栏上点击</a:t>
            </a:r>
            <a:r>
              <a:rPr lang="en-US" altLang="zh-CN" sz="2400" b="1"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selectionChangFun</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选项。在该按钮的回调函数下编写如下命令。</a:t>
            </a:r>
          </a:p>
          <a:p>
            <a:pPr marL="0" indent="457200">
              <a:lnSpc>
                <a:spcPct val="100000"/>
              </a:lnSpc>
              <a:spcBef>
                <a:spcPts val="0"/>
              </a:spcBef>
              <a:buNone/>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global </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im</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定义全局变量</a:t>
            </a:r>
          </a:p>
          <a:p>
            <a:pPr marL="0" indent="457200">
              <a:lnSpc>
                <a:spcPct val="100000"/>
              </a:lnSpc>
              <a:spcBef>
                <a:spcPts val="0"/>
              </a:spcBef>
              <a:buNone/>
            </a:pP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str=get(</a:t>
            </a:r>
            <a:r>
              <a:rPr lang="en-US" altLang="zh-CN" sz="2400" b="1" dirty="0" err="1">
                <a:latin typeface="Times New Roman" panose="02020603050405020304" pitchFamily="18" charset="0"/>
                <a:ea typeface="微软雅黑" panose="020B0503020204020204" pitchFamily="34" charset="-122"/>
                <a:cs typeface="Times New Roman" panose="02020603050405020304" pitchFamily="18" charset="0"/>
              </a:rPr>
              <a:t>hObject</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,'string');</a:t>
            </a:r>
          </a:p>
          <a:p>
            <a:pPr marL="0" indent="457200">
              <a:lnSpc>
                <a:spcPct val="100000"/>
              </a:lnSpc>
              <a:spcBef>
                <a:spcPts val="0"/>
              </a:spcBef>
              <a:buNone/>
            </a:pPr>
            <a:r>
              <a:rPr lang="en-US" altLang="zh-CN" sz="24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axes(handles.axes2);</a:t>
            </a:r>
          </a:p>
          <a:p>
            <a:pPr marL="0" indent="457200">
              <a:lnSpc>
                <a:spcPct val="100000"/>
              </a:lnSpc>
              <a:spcBef>
                <a:spcPts val="0"/>
              </a:spcBef>
              <a:buNone/>
            </a:pPr>
            <a:r>
              <a:rPr lang="en-US" altLang="zh-CN" sz="24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switch</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str</a:t>
            </a:r>
          </a:p>
          <a:p>
            <a:pPr marL="0" indent="457200">
              <a:lnSpc>
                <a:spcPct val="100000"/>
              </a:lnSpc>
              <a:spcBef>
                <a:spcPts val="0"/>
              </a:spcBef>
              <a:buNone/>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case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原图</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p>
          <a:p>
            <a:pPr marL="0" indent="457200">
              <a:lnSpc>
                <a:spcPct val="100000"/>
              </a:lnSpc>
              <a:spcBef>
                <a:spcPts val="0"/>
              </a:spcBef>
              <a:buNone/>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imshow</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im</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p>
          <a:p>
            <a:pPr marL="0" indent="457200">
              <a:lnSpc>
                <a:spcPct val="100000"/>
              </a:lnSpc>
              <a:spcBef>
                <a:spcPts val="0"/>
              </a:spcBef>
              <a:buNone/>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case '</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sobel</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p>
          <a:p>
            <a:pPr marL="0" indent="457200">
              <a:lnSpc>
                <a:spcPct val="100000"/>
              </a:lnSpc>
              <a:spcBef>
                <a:spcPts val="0"/>
              </a:spcBef>
              <a:buNone/>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bw1=edge(rgb2gray(</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im</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sobel</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p>
          <a:p>
            <a:pPr marL="0" indent="457200">
              <a:lnSpc>
                <a:spcPct val="100000"/>
              </a:lnSpc>
              <a:spcBef>
                <a:spcPts val="0"/>
              </a:spcBef>
              <a:buNone/>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imshow</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(bw1)</a:t>
            </a:r>
          </a:p>
          <a:p>
            <a:pPr marL="0" indent="457200">
              <a:lnSpc>
                <a:spcPct val="100000"/>
              </a:lnSpc>
              <a:spcBef>
                <a:spcPts val="0"/>
              </a:spcBef>
              <a:buNone/>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case '</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prewitt</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p>
          <a:p>
            <a:pPr marL="0" indent="457200">
              <a:lnSpc>
                <a:spcPct val="100000"/>
              </a:lnSpc>
              <a:spcBef>
                <a:spcPts val="0"/>
              </a:spcBef>
              <a:buNone/>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bw2=edge(rgb2gray(</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im</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prewitt</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p>
          <a:p>
            <a:pPr marL="0" indent="457200">
              <a:lnSpc>
                <a:spcPct val="100000"/>
              </a:lnSpc>
              <a:spcBef>
                <a:spcPts val="0"/>
              </a:spcBef>
              <a:buNone/>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imshow</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(bw2) </a:t>
            </a:r>
          </a:p>
          <a:p>
            <a:pPr marL="0" indent="457200">
              <a:lnSpc>
                <a:spcPct val="100000"/>
              </a:lnSpc>
              <a:spcBef>
                <a:spcPts val="0"/>
              </a:spcBef>
              <a:buNone/>
            </a:pPr>
            <a:r>
              <a:rPr lang="en-US" altLang="zh-CN" sz="24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end</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457200">
              <a:lnSpc>
                <a:spcPct val="100000"/>
              </a:lnSpc>
              <a:spcBef>
                <a:spcPts val="0"/>
              </a:spcBef>
              <a:buNone/>
            </a:pPr>
            <a:endPar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endParaRPr>
          </a:p>
          <a:p>
            <a:pPr marL="0" indent="457200">
              <a:lnSpc>
                <a:spcPct val="100000"/>
              </a:lnSpc>
              <a:spcBef>
                <a:spcPts val="0"/>
              </a:spcBef>
              <a:buNone/>
            </a:pPr>
            <a:endParaRPr lang="en-US" altLang="zh-CN" sz="2400" b="1" dirty="0">
              <a:ea typeface="宋体" panose="02010600030101010101" pitchFamily="2" charset="-122"/>
            </a:endParaRPr>
          </a:p>
          <a:p>
            <a:pPr marL="0" indent="0">
              <a:buFont typeface="Arial" panose="020B0604020202020204" pitchFamily="34" charset="0"/>
              <a:buNone/>
            </a:pPr>
            <a:endParaRPr lang="en-US" altLang="zh-CN" sz="2400" b="1" dirty="0">
              <a:solidFill>
                <a:srgbClr val="A42806"/>
              </a:solidFill>
              <a:ea typeface="Gulim" panose="020B0600000101010101" pitchFamily="34" charset="-127"/>
            </a:endParaRPr>
          </a:p>
        </p:txBody>
      </p:sp>
      <p:sp>
        <p:nvSpPr>
          <p:cNvPr id="6" name="Rectangle 2"/>
          <p:cNvSpPr txBox="1"/>
          <p:nvPr/>
        </p:nvSpPr>
        <p:spPr>
          <a:xfrm>
            <a:off x="1648460" y="260865"/>
            <a:ext cx="8895080" cy="720725"/>
          </a:xfrm>
        </p:spPr>
        <p:txBody>
          <a:bodyPr vert="horz" wrap="square" lIns="91440" tIns="45720" rIns="91440" bIns="45720"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案例</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4 </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基于</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MATLAB GUI</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的数字图像处理设计</a:t>
            </a:r>
            <a:br>
              <a:rPr lang="zh-CN" altLang="en-US" sz="2800" b="1" dirty="0">
                <a:ln w="0"/>
                <a:effectLst>
                  <a:outerShdw blurRad="38100" dist="19050" dir="2700000" algn="tl" rotWithShape="0">
                    <a:schemeClr val="dk1">
                      <a:alpha val="40000"/>
                    </a:schemeClr>
                  </a:outerShdw>
                </a:effectLst>
                <a:latin typeface="Times New Roman" panose="02020603050405020304" pitchFamily="18" charset="0"/>
                <a:ea typeface="微软雅黑" panose="020B0503020204020204" pitchFamily="34" charset="-122"/>
                <a:cs typeface="Times New Roman" panose="02020603050405020304" pitchFamily="18" charset="0"/>
              </a:rPr>
            </a:br>
            <a:endParaRPr lang="en-US" altLang="zh-CN" sz="2800" b="1" dirty="0">
              <a:ln w="0"/>
              <a:effectLst>
                <a:outerShdw blurRad="38100" dist="19050" dir="2700000" algn="tl" rotWithShape="0">
                  <a:schemeClr val="dk1">
                    <a:alpha val="40000"/>
                  </a:scheme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图片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600" y="0"/>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8" name="直接连接符 57"/>
          <p:cNvCxnSpPr/>
          <p:nvPr/>
        </p:nvCxnSpPr>
        <p:spPr>
          <a:xfrm>
            <a:off x="0" y="981590"/>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7" name="Rectangle 3"/>
          <p:cNvSpPr txBox="1"/>
          <p:nvPr/>
        </p:nvSpPr>
        <p:spPr>
          <a:xfrm>
            <a:off x="-71023" y="1006475"/>
            <a:ext cx="12263023" cy="981590"/>
          </a:xfr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00000"/>
              </a:lnSpc>
              <a:spcBef>
                <a:spcPts val="0"/>
              </a:spcBef>
              <a:buNone/>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鼠标右击</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GUI</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布局区的</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彩色通道按钮组图形</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上（注意不要点击单选按钮），在查看回调选项的拓展栏上点击</a:t>
            </a:r>
            <a:r>
              <a:rPr lang="en-US" altLang="zh-CN" sz="2400" b="1"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selectionChangFun</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选项。在该按钮的回调函数下编写如下命令。</a:t>
            </a:r>
          </a:p>
          <a:p>
            <a:pPr marL="0" indent="457200">
              <a:lnSpc>
                <a:spcPct val="100000"/>
              </a:lnSpc>
              <a:spcBef>
                <a:spcPts val="0"/>
              </a:spcBef>
              <a:buNone/>
            </a:pPr>
            <a:endParaRPr lang="en-US" altLang="zh-CN" sz="2400" dirty="0">
              <a:ea typeface="宋体" panose="02010600030101010101" pitchFamily="2" charset="-122"/>
            </a:endParaRPr>
          </a:p>
          <a:p>
            <a:pPr marL="0" indent="0">
              <a:buFont typeface="Arial" panose="020B0604020202020204" pitchFamily="34" charset="0"/>
              <a:buNone/>
            </a:pPr>
            <a:endParaRPr lang="en-US" altLang="zh-CN" sz="2400" b="1" dirty="0">
              <a:solidFill>
                <a:srgbClr val="A42806"/>
              </a:solidFill>
              <a:ea typeface="Gulim" panose="020B0600000101010101" pitchFamily="34" charset="-127"/>
            </a:endParaRPr>
          </a:p>
        </p:txBody>
      </p:sp>
      <p:sp>
        <p:nvSpPr>
          <p:cNvPr id="2" name="文本框 1"/>
          <p:cNvSpPr txBox="1"/>
          <p:nvPr/>
        </p:nvSpPr>
        <p:spPr>
          <a:xfrm>
            <a:off x="-71023" y="2056686"/>
            <a:ext cx="3497802" cy="4801314"/>
          </a:xfrm>
          <a:prstGeom prst="rect">
            <a:avLst/>
          </a:prstGeom>
          <a:noFill/>
        </p:spPr>
        <p:txBody>
          <a:bodyPr wrap="square" rtlCol="0">
            <a:spAutoFit/>
          </a:bodyPr>
          <a:lstStyle/>
          <a:p>
            <a:pPr indent="457200"/>
            <a:r>
              <a:rPr lang="en-US" altLang="zh-CN" dirty="0">
                <a:latin typeface="Times New Roman" panose="02020603050405020304" pitchFamily="18" charset="0"/>
                <a:ea typeface="宋体" panose="02010600030101010101" pitchFamily="2" charset="-122"/>
                <a:cs typeface="Times New Roman" panose="02020603050405020304" pitchFamily="18" charset="0"/>
              </a:rPr>
              <a:t>global </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im</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p>
          <a:p>
            <a:pPr indent="457200"/>
            <a:r>
              <a:rPr lang="en-US" altLang="zh-CN" dirty="0">
                <a:latin typeface="Times New Roman" panose="02020603050405020304" pitchFamily="18" charset="0"/>
                <a:ea typeface="宋体" panose="02010600030101010101" pitchFamily="2" charset="-122"/>
                <a:cs typeface="Times New Roman" panose="02020603050405020304" pitchFamily="18" charset="0"/>
              </a:rPr>
              <a:t>global j1;</a:t>
            </a:r>
          </a:p>
          <a:p>
            <a:pPr indent="457200"/>
            <a:r>
              <a:rPr lang="en-US" altLang="zh-CN" dirty="0">
                <a:latin typeface="Times New Roman" panose="02020603050405020304" pitchFamily="18" charset="0"/>
                <a:ea typeface="宋体" panose="02010600030101010101" pitchFamily="2" charset="-122"/>
                <a:cs typeface="Times New Roman" panose="02020603050405020304" pitchFamily="18" charset="0"/>
              </a:rPr>
              <a:t>global j2;</a:t>
            </a:r>
          </a:p>
          <a:p>
            <a:pPr indent="457200"/>
            <a:r>
              <a:rPr lang="en-US" altLang="zh-CN" dirty="0">
                <a:latin typeface="Times New Roman" panose="02020603050405020304" pitchFamily="18" charset="0"/>
                <a:ea typeface="宋体" panose="02010600030101010101" pitchFamily="2" charset="-122"/>
                <a:cs typeface="Times New Roman" panose="02020603050405020304" pitchFamily="18" charset="0"/>
              </a:rPr>
              <a:t>global j3;</a:t>
            </a:r>
          </a:p>
          <a:p>
            <a:pPr indent="457200"/>
            <a:r>
              <a:rPr lang="en-US" altLang="zh-CN" dirty="0">
                <a:latin typeface="Times New Roman" panose="02020603050405020304" pitchFamily="18" charset="0"/>
                <a:ea typeface="宋体" panose="02010600030101010101" pitchFamily="2" charset="-122"/>
                <a:cs typeface="Times New Roman" panose="02020603050405020304" pitchFamily="18" charset="0"/>
              </a:rPr>
              <a:t>global j4;</a:t>
            </a:r>
          </a:p>
          <a:p>
            <a:pPr indent="457200"/>
            <a:r>
              <a:rPr lang="en-US" altLang="zh-CN" dirty="0">
                <a:latin typeface="Times New Roman" panose="02020603050405020304" pitchFamily="18" charset="0"/>
                <a:ea typeface="宋体" panose="02010600030101010101" pitchFamily="2" charset="-122"/>
                <a:cs typeface="Times New Roman" panose="02020603050405020304" pitchFamily="18" charset="0"/>
              </a:rPr>
              <a:t>global </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hR</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p>
          <a:p>
            <a:pPr indent="457200"/>
            <a:r>
              <a:rPr lang="en-US" altLang="zh-CN" dirty="0">
                <a:latin typeface="Times New Roman" panose="02020603050405020304" pitchFamily="18" charset="0"/>
                <a:ea typeface="宋体" panose="02010600030101010101" pitchFamily="2" charset="-122"/>
                <a:cs typeface="Times New Roman" panose="02020603050405020304" pitchFamily="18" charset="0"/>
              </a:rPr>
              <a:t>global </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hG</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p>
          <a:p>
            <a:pPr indent="457200"/>
            <a:r>
              <a:rPr lang="en-US" altLang="zh-CN" dirty="0">
                <a:latin typeface="Times New Roman" panose="02020603050405020304" pitchFamily="18" charset="0"/>
                <a:ea typeface="宋体" panose="02010600030101010101" pitchFamily="2" charset="-122"/>
                <a:cs typeface="Times New Roman" panose="02020603050405020304" pitchFamily="18" charset="0"/>
              </a:rPr>
              <a:t>global </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hB</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p>
          <a:p>
            <a:pPr indent="457200"/>
            <a:r>
              <a:rPr lang="en-US" altLang="zh-CN" dirty="0">
                <a:latin typeface="Times New Roman" panose="02020603050405020304" pitchFamily="18" charset="0"/>
                <a:ea typeface="宋体" panose="02010600030101010101" pitchFamily="2" charset="-122"/>
                <a:cs typeface="Times New Roman" panose="02020603050405020304" pitchFamily="18" charset="0"/>
              </a:rPr>
              <a:t>str=get(</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hObject</a:t>
            </a:r>
            <a:r>
              <a:rPr lang="en-US" altLang="zh-CN" dirty="0">
                <a:latin typeface="Times New Roman" panose="02020603050405020304" pitchFamily="18" charset="0"/>
                <a:ea typeface="宋体" panose="02010600030101010101" pitchFamily="2" charset="-122"/>
                <a:cs typeface="Times New Roman" panose="02020603050405020304" pitchFamily="18" charset="0"/>
              </a:rPr>
              <a:t>,'string');</a:t>
            </a:r>
          </a:p>
          <a:p>
            <a:pPr indent="457200"/>
            <a:r>
              <a:rPr lang="en-US" altLang="zh-CN" dirty="0">
                <a:latin typeface="Times New Roman" panose="02020603050405020304" pitchFamily="18" charset="0"/>
                <a:ea typeface="宋体" panose="02010600030101010101" pitchFamily="2" charset="-122"/>
                <a:cs typeface="Times New Roman" panose="02020603050405020304" pitchFamily="18" charset="0"/>
              </a:rPr>
              <a:t>axes(handles.axes2);</a:t>
            </a:r>
          </a:p>
          <a:p>
            <a:pPr indent="457200"/>
            <a:r>
              <a:rPr lang="en-US" altLang="zh-CN" dirty="0">
                <a:latin typeface="Times New Roman" panose="02020603050405020304" pitchFamily="18" charset="0"/>
                <a:ea typeface="宋体" panose="02010600030101010101" pitchFamily="2" charset="-122"/>
                <a:cs typeface="Times New Roman" panose="02020603050405020304" pitchFamily="18" charset="0"/>
              </a:rPr>
              <a:t>j1=</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im</a:t>
            </a:r>
            <a:r>
              <a:rPr lang="en-US" altLang="zh-CN" dirty="0">
                <a:latin typeface="Times New Roman" panose="02020603050405020304" pitchFamily="18" charset="0"/>
                <a:ea typeface="宋体" panose="02010600030101010101" pitchFamily="2" charset="-122"/>
                <a:cs typeface="Times New Roman" panose="02020603050405020304" pitchFamily="18" charset="0"/>
              </a:rPr>
              <a:t>(:,:,1);</a:t>
            </a:r>
          </a:p>
          <a:p>
            <a:pPr indent="457200"/>
            <a:r>
              <a:rPr lang="en-US" altLang="zh-CN" dirty="0">
                <a:latin typeface="Times New Roman" panose="02020603050405020304" pitchFamily="18" charset="0"/>
                <a:ea typeface="宋体" panose="02010600030101010101" pitchFamily="2" charset="-122"/>
                <a:cs typeface="Times New Roman" panose="02020603050405020304" pitchFamily="18" charset="0"/>
              </a:rPr>
              <a:t>j2=</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im</a:t>
            </a:r>
            <a:r>
              <a:rPr lang="en-US" altLang="zh-CN" dirty="0">
                <a:latin typeface="Times New Roman" panose="02020603050405020304" pitchFamily="18" charset="0"/>
                <a:ea typeface="宋体" panose="02010600030101010101" pitchFamily="2" charset="-122"/>
                <a:cs typeface="Times New Roman" panose="02020603050405020304" pitchFamily="18" charset="0"/>
              </a:rPr>
              <a:t>(:,:,2);</a:t>
            </a:r>
          </a:p>
          <a:p>
            <a:pPr indent="457200"/>
            <a:r>
              <a:rPr lang="en-US" altLang="zh-CN" dirty="0">
                <a:latin typeface="Times New Roman" panose="02020603050405020304" pitchFamily="18" charset="0"/>
                <a:ea typeface="宋体" panose="02010600030101010101" pitchFamily="2" charset="-122"/>
                <a:cs typeface="Times New Roman" panose="02020603050405020304" pitchFamily="18" charset="0"/>
              </a:rPr>
              <a:t>j3=</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im</a:t>
            </a:r>
            <a:r>
              <a:rPr lang="en-US" altLang="zh-CN" dirty="0">
                <a:latin typeface="Times New Roman" panose="02020603050405020304" pitchFamily="18" charset="0"/>
                <a:ea typeface="宋体" panose="02010600030101010101" pitchFamily="2" charset="-122"/>
                <a:cs typeface="Times New Roman" panose="02020603050405020304" pitchFamily="18" charset="0"/>
              </a:rPr>
              <a:t>(:,:,3);</a:t>
            </a:r>
          </a:p>
          <a:p>
            <a:pPr indent="457200"/>
            <a:r>
              <a:rPr lang="en-US" altLang="zh-CN" dirty="0" err="1">
                <a:latin typeface="Times New Roman" panose="02020603050405020304" pitchFamily="18" charset="0"/>
                <a:ea typeface="宋体" panose="02010600030101010101" pitchFamily="2" charset="-122"/>
                <a:cs typeface="Times New Roman" panose="02020603050405020304" pitchFamily="18" charset="0"/>
              </a:rPr>
              <a:t>hR</a:t>
            </a:r>
            <a:r>
              <a:rPr lang="en-US" altLang="zh-CN"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imhist</a:t>
            </a:r>
            <a:r>
              <a:rPr lang="en-US" altLang="zh-CN" dirty="0">
                <a:latin typeface="Times New Roman" panose="02020603050405020304" pitchFamily="18" charset="0"/>
                <a:ea typeface="宋体" panose="02010600030101010101" pitchFamily="2" charset="-122"/>
                <a:cs typeface="Times New Roman" panose="02020603050405020304" pitchFamily="18" charset="0"/>
              </a:rPr>
              <a:t>(j1);</a:t>
            </a:r>
          </a:p>
          <a:p>
            <a:pPr indent="457200"/>
            <a:r>
              <a:rPr lang="en-US" altLang="zh-CN" dirty="0" err="1">
                <a:latin typeface="Times New Roman" panose="02020603050405020304" pitchFamily="18" charset="0"/>
                <a:ea typeface="宋体" panose="02010600030101010101" pitchFamily="2" charset="-122"/>
                <a:cs typeface="Times New Roman" panose="02020603050405020304" pitchFamily="18" charset="0"/>
              </a:rPr>
              <a:t>hG</a:t>
            </a:r>
            <a:r>
              <a:rPr lang="en-US" altLang="zh-CN"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imhist</a:t>
            </a:r>
            <a:r>
              <a:rPr lang="en-US" altLang="zh-CN" dirty="0">
                <a:latin typeface="Times New Roman" panose="02020603050405020304" pitchFamily="18" charset="0"/>
                <a:ea typeface="宋体" panose="02010600030101010101" pitchFamily="2" charset="-122"/>
                <a:cs typeface="Times New Roman" panose="02020603050405020304" pitchFamily="18" charset="0"/>
              </a:rPr>
              <a:t>(j2);</a:t>
            </a:r>
          </a:p>
          <a:p>
            <a:pPr indent="457200"/>
            <a:r>
              <a:rPr lang="en-US" altLang="zh-CN" dirty="0" err="1">
                <a:latin typeface="Times New Roman" panose="02020603050405020304" pitchFamily="18" charset="0"/>
                <a:ea typeface="宋体" panose="02010600030101010101" pitchFamily="2" charset="-122"/>
                <a:cs typeface="Times New Roman" panose="02020603050405020304" pitchFamily="18" charset="0"/>
              </a:rPr>
              <a:t>hB</a:t>
            </a:r>
            <a:r>
              <a:rPr lang="en-US" altLang="zh-CN"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imhist</a:t>
            </a:r>
            <a:r>
              <a:rPr lang="en-US" altLang="zh-CN" dirty="0">
                <a:latin typeface="Times New Roman" panose="02020603050405020304" pitchFamily="18" charset="0"/>
                <a:ea typeface="宋体" panose="02010600030101010101" pitchFamily="2" charset="-122"/>
                <a:cs typeface="Times New Roman" panose="02020603050405020304" pitchFamily="18" charset="0"/>
              </a:rPr>
              <a:t>(j3);</a:t>
            </a:r>
          </a:p>
          <a:p>
            <a:endParaRPr lang="zh-CN" altLang="en-US" dirty="0"/>
          </a:p>
        </p:txBody>
      </p:sp>
      <p:sp>
        <p:nvSpPr>
          <p:cNvPr id="8" name="文本框 7"/>
          <p:cNvSpPr txBox="1"/>
          <p:nvPr/>
        </p:nvSpPr>
        <p:spPr>
          <a:xfrm>
            <a:off x="3569070" y="1988065"/>
            <a:ext cx="4037860" cy="5078313"/>
          </a:xfrm>
          <a:prstGeom prst="rect">
            <a:avLst/>
          </a:prstGeom>
          <a:noFill/>
        </p:spPr>
        <p:txBody>
          <a:bodyPr wrap="square" rtlCol="0">
            <a:spAutoFit/>
          </a:bodyPr>
          <a:lstStyle/>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switch str</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case 'RGB-R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灰度直方图</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bar(1:length(</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hR</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hR</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,'r');</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case 'RGB-G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灰度直方图</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bar(1:length(</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hG</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hG</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,'g');</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case 'RGB-B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灰度直方图</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bar(1:length(</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hB</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hB</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,'b');</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case 'R G B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灰度直方图</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plot(1:length(</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hR</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hR</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,'r');</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hold on</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plot(1:length(</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hG</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hG</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,'g');</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hold on</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plot(1:length(</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hB</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hB</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,'b');</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xlim</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([0 255]);</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hold off</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case 'RGB-R'  </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imshow</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(j1); </a:t>
            </a:r>
          </a:p>
          <a:p>
            <a:endParaRPr lang="zh-CN" altLang="en-US" dirty="0"/>
          </a:p>
        </p:txBody>
      </p:sp>
      <p:sp>
        <p:nvSpPr>
          <p:cNvPr id="9" name="文本框 8"/>
          <p:cNvSpPr txBox="1"/>
          <p:nvPr/>
        </p:nvSpPr>
        <p:spPr>
          <a:xfrm>
            <a:off x="7836763" y="1863778"/>
            <a:ext cx="4037860" cy="5355312"/>
          </a:xfrm>
          <a:prstGeom prst="rect">
            <a:avLst/>
          </a:prstGeom>
          <a:noFill/>
        </p:spPr>
        <p:txBody>
          <a:bodyPr wrap="square" rtlCol="0">
            <a:spAutoFit/>
          </a:bodyPr>
          <a:lstStyle/>
          <a:p>
            <a:pPr indent="457200"/>
            <a:r>
              <a:rPr lang="en-US" altLang="zh-CN"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case 'RGB-B'  </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imshow</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(j3);</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case 'R-G'</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j=j1-j2;</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imshow</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(j);</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case 'G-B'</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j=j1-j3;</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imshow</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(j);</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case 'R-B'</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j=j2-j3;</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imshow</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(j);        </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case 'R-G</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提取模板</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j4=255-((j1-j2)*10-200)*255;</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imshow</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(j4)</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case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提取苹果</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j=cat(3,j1-j4,j2-j4,j3-j4);</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imshow</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(j)</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end</a:t>
            </a:r>
          </a:p>
          <a:p>
            <a:endParaRPr lang="zh-CN" altLang="en-US" dirty="0"/>
          </a:p>
        </p:txBody>
      </p:sp>
      <p:cxnSp>
        <p:nvCxnSpPr>
          <p:cNvPr id="4" name="直接连接符 3"/>
          <p:cNvCxnSpPr/>
          <p:nvPr/>
        </p:nvCxnSpPr>
        <p:spPr>
          <a:xfrm>
            <a:off x="3569070" y="2126564"/>
            <a:ext cx="0" cy="473143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7606930" y="2126564"/>
            <a:ext cx="0" cy="4731436"/>
          </a:xfrm>
          <a:prstGeom prst="line">
            <a:avLst/>
          </a:prstGeom>
        </p:spPr>
        <p:style>
          <a:lnRef idx="1">
            <a:schemeClr val="accent1"/>
          </a:lnRef>
          <a:fillRef idx="0">
            <a:schemeClr val="accent1"/>
          </a:fillRef>
          <a:effectRef idx="0">
            <a:schemeClr val="accent1"/>
          </a:effectRef>
          <a:fontRef idx="minor">
            <a:schemeClr val="tx1"/>
          </a:fontRef>
        </p:style>
      </p:cxnSp>
      <p:sp>
        <p:nvSpPr>
          <p:cNvPr id="12" name="Rectangle 2"/>
          <p:cNvSpPr txBox="1"/>
          <p:nvPr/>
        </p:nvSpPr>
        <p:spPr>
          <a:xfrm>
            <a:off x="1648460" y="260865"/>
            <a:ext cx="8895080" cy="720725"/>
          </a:xfrm>
        </p:spPr>
        <p:txBody>
          <a:bodyPr vert="horz" wrap="square" lIns="91440" tIns="45720" rIns="91440" bIns="45720"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案例</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4 </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基于</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MATLAB GUI</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的数字图像处理设计</a:t>
            </a:r>
            <a:br>
              <a:rPr lang="zh-CN" altLang="en-US" sz="2800" b="1" dirty="0">
                <a:ln w="0"/>
                <a:effectLst>
                  <a:outerShdw blurRad="38100" dist="38100" dir="2700000" algn="tl">
                    <a:srgbClr val="000000">
                      <a:alpha val="43137"/>
                    </a:srgbClr>
                  </a:outerShdw>
                </a:effectLst>
                <a:ea typeface="宋体" panose="02010600030101010101" pitchFamily="2" charset="-122"/>
              </a:rPr>
            </a:br>
            <a:endParaRPr lang="en-US" altLang="zh-CN" sz="2800" b="1" dirty="0">
              <a:ln w="0"/>
              <a:effectLst>
                <a:outerShdw blurRad="38100" dist="38100" dir="2700000" algn="tl">
                  <a:srgbClr val="000000">
                    <a:alpha val="43137"/>
                  </a:srgbClr>
                </a:outerShdw>
              </a:effectLst>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图片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600" y="0"/>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8" name="直接连接符 57"/>
          <p:cNvCxnSpPr/>
          <p:nvPr/>
        </p:nvCxnSpPr>
        <p:spPr>
          <a:xfrm>
            <a:off x="0" y="981590"/>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7" name="Rectangle 3"/>
          <p:cNvSpPr txBox="1"/>
          <p:nvPr/>
        </p:nvSpPr>
        <p:spPr>
          <a:xfrm>
            <a:off x="-373355" y="952070"/>
            <a:ext cx="12565355" cy="494990"/>
          </a:xfr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indent="457200">
              <a:lnSpc>
                <a:spcPct val="100000"/>
              </a:lnSpc>
              <a:spcBef>
                <a:spcPts val="0"/>
              </a:spcBef>
              <a:buFont typeface="Wingdings" panose="05000000000000000000" pitchFamily="2" charset="2"/>
              <a:buChar char="l"/>
            </a:pPr>
            <a:r>
              <a:rPr lang="zh-CN" altLang="en-US" sz="2400" b="1" dirty="0">
                <a:solidFill>
                  <a:srgbClr val="FF0000"/>
                </a:solidFill>
                <a:latin typeface="Times New Roman" panose="02020603050405020304" pitchFamily="18" charset="0"/>
                <a:ea typeface="微软雅黑" panose="020B0503020204020204" pitchFamily="34" charset="-122"/>
              </a:rPr>
              <a:t>程序实现（</a:t>
            </a:r>
            <a:r>
              <a:rPr lang="en-US" altLang="zh-CN" sz="2400" b="1" dirty="0">
                <a:solidFill>
                  <a:srgbClr val="FF0000"/>
                </a:solidFill>
                <a:latin typeface="Times New Roman" panose="02020603050405020304" pitchFamily="18" charset="0"/>
                <a:ea typeface="微软雅黑" panose="020B0503020204020204" pitchFamily="34" charset="-122"/>
              </a:rPr>
              <a:t>GUI</a:t>
            </a:r>
            <a:r>
              <a:rPr lang="zh-CN" altLang="en-US" sz="2400" b="1" dirty="0">
                <a:solidFill>
                  <a:srgbClr val="FF0000"/>
                </a:solidFill>
                <a:latin typeface="Times New Roman" panose="02020603050405020304" pitchFamily="18" charset="0"/>
                <a:ea typeface="微软雅黑" panose="020B0503020204020204" pitchFamily="34" charset="-122"/>
              </a:rPr>
              <a:t>的完整</a:t>
            </a:r>
            <a:r>
              <a:rPr lang="en-US" altLang="zh-CN" sz="2400" b="1" dirty="0">
                <a:solidFill>
                  <a:srgbClr val="FF0000"/>
                </a:solidFill>
                <a:latin typeface="Times New Roman" panose="02020603050405020304" pitchFamily="18" charset="0"/>
                <a:ea typeface="微软雅黑" panose="020B0503020204020204" pitchFamily="34" charset="-122"/>
              </a:rPr>
              <a:t>m</a:t>
            </a:r>
            <a:r>
              <a:rPr lang="zh-CN" altLang="en-US" sz="2400" b="1" dirty="0">
                <a:solidFill>
                  <a:srgbClr val="FF0000"/>
                </a:solidFill>
                <a:latin typeface="Times New Roman" panose="02020603050405020304" pitchFamily="18" charset="0"/>
                <a:ea typeface="微软雅黑" panose="020B0503020204020204" pitchFamily="34" charset="-122"/>
              </a:rPr>
              <a:t>文件</a:t>
            </a:r>
            <a:r>
              <a:rPr lang="en-US" altLang="zh-CN" sz="2400" b="1" dirty="0">
                <a:solidFill>
                  <a:srgbClr val="FF0000"/>
                </a:solidFill>
                <a:latin typeface="Times New Roman" panose="02020603050405020304" pitchFamily="18" charset="0"/>
                <a:ea typeface="微软雅黑" panose="020B0503020204020204" pitchFamily="34" charset="-122"/>
              </a:rPr>
              <a:t>,</a:t>
            </a:r>
            <a:r>
              <a:rPr lang="zh-CN" altLang="en-US" sz="2400" b="1" dirty="0">
                <a:solidFill>
                  <a:srgbClr val="FF0000"/>
                </a:solidFill>
                <a:latin typeface="Times New Roman" panose="02020603050405020304" pitchFamily="18" charset="0"/>
                <a:ea typeface="微软雅黑" panose="020B0503020204020204" pitchFamily="34" charset="-122"/>
              </a:rPr>
              <a:t>加红部分为人工编写，黑体部分为</a:t>
            </a:r>
            <a:r>
              <a:rPr lang="en-US" altLang="zh-CN" sz="2400" b="1" dirty="0" err="1">
                <a:solidFill>
                  <a:srgbClr val="FF0000"/>
                </a:solidFill>
                <a:latin typeface="Times New Roman" panose="02020603050405020304" pitchFamily="18" charset="0"/>
                <a:ea typeface="微软雅黑" panose="020B0503020204020204" pitchFamily="34" charset="-122"/>
              </a:rPr>
              <a:t>Matlab</a:t>
            </a:r>
            <a:r>
              <a:rPr lang="zh-CN" altLang="en-US" sz="2400" b="1" dirty="0">
                <a:solidFill>
                  <a:srgbClr val="FF0000"/>
                </a:solidFill>
                <a:latin typeface="Times New Roman" panose="02020603050405020304" pitchFamily="18" charset="0"/>
                <a:ea typeface="微软雅黑" panose="020B0503020204020204" pitchFamily="34" charset="-122"/>
              </a:rPr>
              <a:t>自动生成）</a:t>
            </a:r>
            <a:endParaRPr lang="en-US" altLang="zh-CN" sz="2400" b="1" dirty="0">
              <a:solidFill>
                <a:srgbClr val="FF0000"/>
              </a:solidFill>
              <a:latin typeface="Times New Roman" panose="02020603050405020304" pitchFamily="18" charset="0"/>
              <a:ea typeface="微软雅黑" panose="020B0503020204020204" pitchFamily="34" charset="-122"/>
            </a:endParaRPr>
          </a:p>
        </p:txBody>
      </p:sp>
      <p:sp>
        <p:nvSpPr>
          <p:cNvPr id="2" name="文本框 1"/>
          <p:cNvSpPr txBox="1"/>
          <p:nvPr/>
        </p:nvSpPr>
        <p:spPr>
          <a:xfrm>
            <a:off x="-244629" y="1347735"/>
            <a:ext cx="11665257" cy="5262979"/>
          </a:xfrm>
          <a:prstGeom prst="rect">
            <a:avLst/>
          </a:prstGeom>
          <a:noFill/>
        </p:spPr>
        <p:txBody>
          <a:bodyPr wrap="square" rtlCol="0">
            <a:spAutoFit/>
          </a:bodyPr>
          <a:lstStyle/>
          <a:p>
            <a:pPr indent="457200"/>
            <a:r>
              <a:rPr lang="en-US" altLang="zh-CN" sz="1600" b="1" dirty="0">
                <a:latin typeface="Times New Roman" panose="02020603050405020304" pitchFamily="18" charset="0"/>
                <a:ea typeface="宋体" panose="02010600030101010101" pitchFamily="2" charset="-122"/>
                <a:cs typeface="Times New Roman" panose="02020603050405020304" pitchFamily="18" charset="0"/>
              </a:rPr>
              <a:t>function </a:t>
            </a:r>
            <a:r>
              <a:rPr lang="en-US" altLang="zh-CN" sz="1600" b="1" dirty="0" err="1">
                <a:latin typeface="Times New Roman" panose="02020603050405020304" pitchFamily="18" charset="0"/>
                <a:ea typeface="宋体" panose="02010600030101010101" pitchFamily="2" charset="-122"/>
                <a:cs typeface="Times New Roman" panose="02020603050405020304" pitchFamily="18" charset="0"/>
              </a:rPr>
              <a:t>varargout</a:t>
            </a:r>
            <a:r>
              <a:rPr lang="en-US" altLang="zh-CN" sz="1600" b="1" dirty="0">
                <a:latin typeface="Times New Roman" panose="02020603050405020304" pitchFamily="18" charset="0"/>
                <a:ea typeface="宋体" panose="02010600030101010101" pitchFamily="2" charset="-122"/>
                <a:cs typeface="Times New Roman" panose="02020603050405020304" pitchFamily="18" charset="0"/>
              </a:rPr>
              <a:t> = tiqutuxiang222(</a:t>
            </a:r>
            <a:r>
              <a:rPr lang="en-US" altLang="zh-CN" sz="1600" b="1" dirty="0" err="1">
                <a:latin typeface="Times New Roman" panose="02020603050405020304" pitchFamily="18" charset="0"/>
                <a:ea typeface="宋体" panose="02010600030101010101" pitchFamily="2" charset="-122"/>
                <a:cs typeface="Times New Roman" panose="02020603050405020304" pitchFamily="18" charset="0"/>
              </a:rPr>
              <a:t>varargin</a:t>
            </a:r>
            <a:r>
              <a:rPr lang="en-US" altLang="zh-CN" sz="1600" b="1" dirty="0">
                <a:latin typeface="Times New Roman" panose="02020603050405020304" pitchFamily="18" charset="0"/>
                <a:ea typeface="宋体" panose="02010600030101010101" pitchFamily="2" charset="-122"/>
                <a:cs typeface="Times New Roman" panose="02020603050405020304" pitchFamily="18" charset="0"/>
              </a:rPr>
              <a:t>)</a:t>
            </a:r>
          </a:p>
          <a:p>
            <a:pPr indent="457200"/>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TIQUTUXIANG222 MATLAB code for tiqutuxiang222.fig</a:t>
            </a:r>
          </a:p>
          <a:p>
            <a:pPr indent="457200"/>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TIQUTUXIANG222, by itself, creates a new TIQUTUXIANG222 or raises the existing</a:t>
            </a:r>
          </a:p>
          <a:p>
            <a:pPr indent="457200"/>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singleton*.</a:t>
            </a:r>
          </a:p>
          <a:p>
            <a:pPr indent="457200"/>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a:t>
            </a:r>
          </a:p>
          <a:p>
            <a:pPr indent="457200"/>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H = TIQUTUXIANG222 returns the handle to a new TIQUTUXIANG222 or the handle to</a:t>
            </a:r>
          </a:p>
          <a:p>
            <a:pPr indent="457200"/>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the existing singleton*.</a:t>
            </a:r>
          </a:p>
          <a:p>
            <a:pPr indent="457200"/>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a:t>
            </a:r>
          </a:p>
          <a:p>
            <a:pPr indent="457200"/>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TIQUTUXIANG222('CALLBACK',</a:t>
            </a: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hObject,eventData,handles</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calls the local</a:t>
            </a:r>
          </a:p>
          <a:p>
            <a:pPr indent="457200"/>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function named CALLBACK in TIQUTUXIANG222.M with the given input arguments.</a:t>
            </a:r>
          </a:p>
          <a:p>
            <a:pPr indent="457200"/>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a:t>
            </a:r>
          </a:p>
          <a:p>
            <a:pPr indent="457200"/>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TIQUTUXIANG222('</a:t>
            </a: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Property','Value</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creates a new TIQUTUXIANG222 or raises the</a:t>
            </a:r>
          </a:p>
          <a:p>
            <a:pPr indent="457200"/>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existing singleton*.  Starting from the left, property value pairs are</a:t>
            </a:r>
          </a:p>
          <a:p>
            <a:pPr indent="457200"/>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applied to the GUI before tiqutuxiang222_OpeningFcn gets called.  An</a:t>
            </a:r>
          </a:p>
          <a:p>
            <a:pPr indent="457200"/>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unrecognized property name or invalid value makes property application</a:t>
            </a:r>
          </a:p>
          <a:p>
            <a:pPr indent="457200"/>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stop.  All inputs are passed to tiqutuxiang222_OpeningFcn via </a:t>
            </a: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varargin</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a:t>
            </a:r>
          </a:p>
          <a:p>
            <a:pPr indent="457200"/>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a:t>
            </a:r>
          </a:p>
          <a:p>
            <a:pPr indent="457200"/>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*See GUI Options on GUIDE's Tools menu.  Choose "GUI allows only one</a:t>
            </a:r>
          </a:p>
          <a:p>
            <a:pPr indent="457200"/>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instance to run (singleton)".</a:t>
            </a:r>
          </a:p>
          <a:p>
            <a:pPr indent="457200"/>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a:t>
            </a:r>
          </a:p>
          <a:p>
            <a:pPr indent="457200"/>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See also: GUIDE, GUIDATA, GUIHANDLES</a:t>
            </a:r>
          </a:p>
        </p:txBody>
      </p:sp>
      <p:sp>
        <p:nvSpPr>
          <p:cNvPr id="9" name="Rectangle 2"/>
          <p:cNvSpPr txBox="1"/>
          <p:nvPr/>
        </p:nvSpPr>
        <p:spPr>
          <a:xfrm>
            <a:off x="1648460" y="260865"/>
            <a:ext cx="8895080" cy="720725"/>
          </a:xfrm>
        </p:spPr>
        <p:txBody>
          <a:bodyPr vert="horz" wrap="square" lIns="91440" tIns="45720" rIns="91440" bIns="45720"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案例</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4 </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基于</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MATLAB GUI</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的数字图像处理设计</a:t>
            </a:r>
            <a:br>
              <a:rPr lang="zh-CN" altLang="en-US" sz="2800" b="1" dirty="0">
                <a:ln w="0"/>
                <a:effectLst>
                  <a:outerShdw blurRad="38100" dist="38100" dir="2700000" algn="tl">
                    <a:srgbClr val="000000">
                      <a:alpha val="43137"/>
                    </a:srgbClr>
                  </a:outerShdw>
                </a:effectLst>
                <a:ea typeface="宋体" panose="02010600030101010101" pitchFamily="2" charset="-122"/>
              </a:rPr>
            </a:br>
            <a:endParaRPr lang="en-US" altLang="zh-CN" sz="2800" b="1" dirty="0">
              <a:ln w="0"/>
              <a:effectLst>
                <a:outerShdw blurRad="38100" dist="38100" dir="2700000" algn="tl">
                  <a:srgbClr val="000000">
                    <a:alpha val="43137"/>
                  </a:srgbClr>
                </a:outerShdw>
              </a:effectLst>
              <a:ea typeface="宋体"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图片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600" y="0"/>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8" name="直接连接符 57"/>
          <p:cNvCxnSpPr/>
          <p:nvPr/>
        </p:nvCxnSpPr>
        <p:spPr>
          <a:xfrm>
            <a:off x="0" y="981590"/>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9075" y="981589"/>
            <a:ext cx="5940146" cy="6186309"/>
          </a:xfrm>
          <a:prstGeom prst="rect">
            <a:avLst/>
          </a:prstGeom>
          <a:noFill/>
        </p:spPr>
        <p:txBody>
          <a:bodyPr wrap="square" rtlCol="0">
            <a:spAutoFit/>
          </a:bodyPr>
          <a:lstStyle/>
          <a:p>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Edit the above text to modify the response to help tiqutuxiang222</a:t>
            </a:r>
          </a:p>
          <a:p>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Last Modified by GUIDE v2.5 18-Feb-2022 02:46:45</a:t>
            </a:r>
          </a:p>
          <a:p>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Begin initialization code - DO NOT EDIT</a:t>
            </a:r>
          </a:p>
          <a:p>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gui_Singleton</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 1;</a:t>
            </a:r>
          </a:p>
          <a:p>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gui_State</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 struct('</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gui_Name</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mfilename</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a:t>
            </a:r>
          </a:p>
          <a:p>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gui_Singleton</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gui_Singleton</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a:t>
            </a:r>
          </a:p>
          <a:p>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gui_OpeningFcn</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@tiqutuxiang222_OpeningFcn, ...</a:t>
            </a:r>
          </a:p>
          <a:p>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gui_OutputFcn</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@tiqutuxiang222_OutputFcn, ...</a:t>
            </a:r>
          </a:p>
          <a:p>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gui_LayoutFcn</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 , ...</a:t>
            </a:r>
          </a:p>
          <a:p>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gui_Callback</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a:t>
            </a:r>
          </a:p>
          <a:p>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if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nargin</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&amp;&amp;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ischar</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varargin</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{1})</a:t>
            </a:r>
          </a:p>
          <a:p>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gui_State.gui_Callback</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 str2func(</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varargin</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{1});</a:t>
            </a:r>
          </a:p>
          <a:p>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end</a:t>
            </a:r>
          </a:p>
          <a:p>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if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nargout</a:t>
            </a:r>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varargout</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{1:nargout}] =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gui_mainfcn</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gui_State</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varargin</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a:t>
            </a:r>
          </a:p>
          <a:p>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else</a:t>
            </a:r>
          </a:p>
          <a:p>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gui_mainfcn</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gui_State</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varargin</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a:t>
            </a:r>
          </a:p>
          <a:p>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end</a:t>
            </a:r>
          </a:p>
          <a:p>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End initialization code - DO NOT EDIT</a:t>
            </a:r>
          </a:p>
          <a:p>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 Executes just before tiqutuxiang222 is made visible.</a:t>
            </a:r>
          </a:p>
          <a:p>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function tiqutuxiang222_OpeningFcn(</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hObject</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eventdata</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handles,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varargin</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a:t>
            </a:r>
          </a:p>
          <a:p>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This function has no output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args</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see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OutputFcn</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a:t>
            </a:r>
          </a:p>
          <a:p>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hObject</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handle to figure</a:t>
            </a:r>
          </a:p>
          <a:p>
            <a:endParaRPr lang="zh-CN" altLang="en-US" dirty="0"/>
          </a:p>
        </p:txBody>
      </p:sp>
      <p:sp>
        <p:nvSpPr>
          <p:cNvPr id="9" name="Rectangle 2"/>
          <p:cNvSpPr txBox="1"/>
          <p:nvPr/>
        </p:nvSpPr>
        <p:spPr>
          <a:xfrm>
            <a:off x="1648460" y="260865"/>
            <a:ext cx="8895080" cy="720725"/>
          </a:xfrm>
        </p:spPr>
        <p:txBody>
          <a:bodyPr vert="horz" wrap="square" lIns="91440" tIns="45720" rIns="91440" bIns="45720"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案例</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4 </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基于</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MATLAB GUI</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的数字图像处理设计</a:t>
            </a:r>
            <a:br>
              <a:rPr lang="zh-CN" altLang="en-US" sz="2800" b="1" dirty="0">
                <a:ln w="0"/>
                <a:ea typeface="宋体" panose="02010600030101010101" pitchFamily="2" charset="-122"/>
              </a:rPr>
            </a:br>
            <a:endParaRPr lang="en-US" altLang="zh-CN" sz="2800" b="1" dirty="0">
              <a:ln w="0"/>
              <a:ea typeface="宋体" panose="02010600030101010101" pitchFamily="2" charset="-122"/>
            </a:endParaRPr>
          </a:p>
        </p:txBody>
      </p:sp>
      <p:sp>
        <p:nvSpPr>
          <p:cNvPr id="8" name="文本框 7"/>
          <p:cNvSpPr txBox="1"/>
          <p:nvPr/>
        </p:nvSpPr>
        <p:spPr>
          <a:xfrm>
            <a:off x="5885895" y="981588"/>
            <a:ext cx="6668115" cy="6401753"/>
          </a:xfrm>
          <a:prstGeom prst="rect">
            <a:avLst/>
          </a:prstGeom>
          <a:noFill/>
        </p:spPr>
        <p:txBody>
          <a:bodyPr wrap="square" rtlCol="0">
            <a:spAutoFit/>
          </a:bodyPr>
          <a:lstStyle/>
          <a:p>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eventdata</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reserved - to be defined in a future version of MATLAB</a:t>
            </a:r>
          </a:p>
          <a:p>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handles    structure with handles and user data (see GUIDATA)</a:t>
            </a:r>
          </a:p>
          <a:p>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varargin</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command line arguments to tiqutuxiang222 (see VARARGIN)</a:t>
            </a:r>
          </a:p>
          <a:p>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Choose default command line output for tiqutuxiang222</a:t>
            </a:r>
          </a:p>
          <a:p>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handles.output</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hObject</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a:t>
            </a:r>
          </a:p>
          <a:p>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Update handles structure</a:t>
            </a:r>
          </a:p>
          <a:p>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guidata</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hObject</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handles);</a:t>
            </a:r>
          </a:p>
          <a:p>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UIWAIT makes tiqutuxiang222 wait for user response (see UIRESUME)</a:t>
            </a:r>
          </a:p>
          <a:p>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uiwait</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(handles.figure1);</a:t>
            </a:r>
          </a:p>
          <a:p>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 Outputs from this function are returned to the command line.</a:t>
            </a:r>
          </a:p>
          <a:p>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function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varargout</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 tiqutuxiang222_OutputFcn(</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hObject</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eventdata</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handles) </a:t>
            </a:r>
          </a:p>
          <a:p>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varargout</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cell array for returning output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args</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(see VARARGOUT);</a:t>
            </a:r>
          </a:p>
          <a:p>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hObject</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handle to figure</a:t>
            </a:r>
          </a:p>
          <a:p>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eventdata</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reserved - to be defined in a future version of MATLAB</a:t>
            </a:r>
          </a:p>
          <a:p>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handles    structure with handles and user data (see GUIDATA)</a:t>
            </a:r>
          </a:p>
          <a:p>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Get default command line output from handles structure</a:t>
            </a:r>
          </a:p>
          <a:p>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varargout</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{1} =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handles.output</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a:t>
            </a:r>
          </a:p>
          <a:p>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 Executes on button press in pushbutton1.</a:t>
            </a:r>
          </a:p>
          <a:p>
            <a:r>
              <a:rPr lang="en-US" altLang="zh-CN" sz="1400" b="1" dirty="0">
                <a:latin typeface="Times New Roman" panose="02020603050405020304" pitchFamily="18" charset="0"/>
                <a:ea typeface="宋体" panose="02010600030101010101" pitchFamily="2" charset="-122"/>
                <a:cs typeface="Times New Roman" panose="02020603050405020304" pitchFamily="18" charset="0"/>
              </a:rPr>
              <a:t>function pushbutton1_Callback(</a:t>
            </a:r>
            <a:r>
              <a:rPr lang="en-US" altLang="zh-CN" sz="1400" b="1" dirty="0" err="1">
                <a:latin typeface="Times New Roman" panose="02020603050405020304" pitchFamily="18" charset="0"/>
                <a:ea typeface="宋体" panose="02010600030101010101" pitchFamily="2" charset="-122"/>
                <a:cs typeface="Times New Roman" panose="02020603050405020304" pitchFamily="18" charset="0"/>
              </a:rPr>
              <a:t>hObject</a:t>
            </a:r>
            <a:r>
              <a:rPr lang="en-US" altLang="zh-CN" sz="1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b="1" dirty="0" err="1">
                <a:latin typeface="Times New Roman" panose="02020603050405020304" pitchFamily="18" charset="0"/>
                <a:ea typeface="宋体" panose="02010600030101010101" pitchFamily="2" charset="-122"/>
                <a:cs typeface="Times New Roman" panose="02020603050405020304" pitchFamily="18" charset="0"/>
              </a:rPr>
              <a:t>eventdata</a:t>
            </a:r>
            <a:r>
              <a:rPr lang="en-US" altLang="zh-CN" sz="1400" b="1" dirty="0">
                <a:latin typeface="Times New Roman" panose="02020603050405020304" pitchFamily="18" charset="0"/>
                <a:ea typeface="宋体" panose="02010600030101010101" pitchFamily="2" charset="-122"/>
                <a:cs typeface="Times New Roman" panose="02020603050405020304" pitchFamily="18" charset="0"/>
              </a:rPr>
              <a:t>, handles)</a:t>
            </a:r>
          </a:p>
          <a:p>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hObject</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handle to pushbutton1 (see GCBO)</a:t>
            </a:r>
          </a:p>
          <a:p>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eventdata</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reserved - to be defined in a future version of MATLAB</a:t>
            </a:r>
          </a:p>
          <a:p>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handles    structure with handles and user data (see GUIDATA)</a:t>
            </a:r>
          </a:p>
          <a:p>
            <a:endParaRPr lang="zh-CN" altLang="en-US" dirty="0"/>
          </a:p>
        </p:txBody>
      </p:sp>
      <p:cxnSp>
        <p:nvCxnSpPr>
          <p:cNvPr id="4" name="直接连接符 3"/>
          <p:cNvCxnSpPr/>
          <p:nvPr/>
        </p:nvCxnSpPr>
        <p:spPr>
          <a:xfrm>
            <a:off x="5885895" y="1006475"/>
            <a:ext cx="0" cy="5851525"/>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图片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600" y="0"/>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8" name="直接连接符 57"/>
          <p:cNvCxnSpPr/>
          <p:nvPr/>
        </p:nvCxnSpPr>
        <p:spPr>
          <a:xfrm>
            <a:off x="0" y="981590"/>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9236" y="1162248"/>
            <a:ext cx="5700449" cy="5539978"/>
          </a:xfrm>
          <a:prstGeom prst="rect">
            <a:avLst/>
          </a:prstGeom>
          <a:noFill/>
        </p:spPr>
        <p:txBody>
          <a:bodyPr wrap="square" rtlCol="0">
            <a:spAutoFit/>
          </a:bodyPr>
          <a:lstStyle/>
          <a:p>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global </a:t>
            </a:r>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im</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定义全局变量</a:t>
            </a:r>
          </a:p>
          <a:p>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[filename, pathname] = </a:t>
            </a:r>
          </a:p>
          <a:p>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uigetfile</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({'*.jpg';'*.bmp';'*.gif'},'select </a:t>
            </a:r>
          </a:p>
          <a:p>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picture');%</a:t>
            </a:r>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选择图片路径以及格式</a:t>
            </a:r>
          </a:p>
          <a:p>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str = [pathname filename];%</a:t>
            </a:r>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合成路径加文件名</a:t>
            </a:r>
          </a:p>
          <a:p>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im</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imread</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(str);</a:t>
            </a:r>
          </a:p>
          <a:p>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axes(handles.axes1);%</a:t>
            </a:r>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使用第一个</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axes</a:t>
            </a:r>
          </a:p>
          <a:p>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imshow</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im</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显示图片</a:t>
            </a:r>
            <a:endPar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 --- Executes on button press in radiobutton1.</a:t>
            </a:r>
          </a:p>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function radiobutton1_Callback(</a:t>
            </a:r>
            <a:r>
              <a:rPr lang="en-US" altLang="zh-CN" sz="1600" b="1" dirty="0" err="1">
                <a:latin typeface="Times New Roman" panose="02020603050405020304" pitchFamily="18" charset="0"/>
                <a:ea typeface="微软雅黑" panose="020B0503020204020204" pitchFamily="34" charset="-122"/>
                <a:cs typeface="Times New Roman" panose="02020603050405020304" pitchFamily="18" charset="0"/>
              </a:rPr>
              <a:t>hObject</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b="1" dirty="0" err="1">
                <a:latin typeface="Times New Roman" panose="02020603050405020304" pitchFamily="18" charset="0"/>
                <a:ea typeface="微软雅黑" panose="020B0503020204020204" pitchFamily="34" charset="-122"/>
                <a:cs typeface="Times New Roman" panose="02020603050405020304" pitchFamily="18" charset="0"/>
              </a:rPr>
              <a:t>eventdata</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handles)</a:t>
            </a:r>
          </a:p>
          <a:p>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dirty="0" err="1">
                <a:latin typeface="Times New Roman" panose="02020603050405020304" pitchFamily="18" charset="0"/>
                <a:ea typeface="微软雅黑" panose="020B0503020204020204" pitchFamily="34" charset="-122"/>
                <a:cs typeface="Times New Roman" panose="02020603050405020304" pitchFamily="18" charset="0"/>
              </a:rPr>
              <a:t>hObject</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    handle to radiobutton1 (see GCBO)</a:t>
            </a:r>
          </a:p>
          <a:p>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dirty="0" err="1">
                <a:latin typeface="Times New Roman" panose="02020603050405020304" pitchFamily="18" charset="0"/>
                <a:ea typeface="微软雅黑" panose="020B0503020204020204" pitchFamily="34" charset="-122"/>
                <a:cs typeface="Times New Roman" panose="02020603050405020304" pitchFamily="18" charset="0"/>
              </a:rPr>
              <a:t>eventdata</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  reserved - to be defined in a future version of </a:t>
            </a:r>
          </a:p>
          <a:p>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MATLAB</a:t>
            </a:r>
          </a:p>
          <a:p>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 handles    structure with handles and user data (see GUIDATA)</a:t>
            </a:r>
          </a:p>
          <a:p>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 Hint: get(</a:t>
            </a:r>
            <a:r>
              <a:rPr lang="en-US" altLang="zh-CN" sz="1600" dirty="0" err="1">
                <a:latin typeface="Times New Roman" panose="02020603050405020304" pitchFamily="18" charset="0"/>
                <a:ea typeface="微软雅黑" panose="020B0503020204020204" pitchFamily="34" charset="-122"/>
                <a:cs typeface="Times New Roman" panose="02020603050405020304" pitchFamily="18" charset="0"/>
              </a:rPr>
              <a:t>hObject</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,'Value') returns toggle state of radiobutton1</a:t>
            </a:r>
          </a:p>
          <a:p>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global </a:t>
            </a:r>
            <a:r>
              <a:rPr lang="en-US" altLang="zh-CN" sz="1600" dirty="0" err="1">
                <a:latin typeface="Times New Roman" panose="02020603050405020304" pitchFamily="18" charset="0"/>
                <a:ea typeface="微软雅黑" panose="020B0503020204020204" pitchFamily="34" charset="-122"/>
                <a:cs typeface="Times New Roman" panose="02020603050405020304" pitchFamily="18" charset="0"/>
              </a:rPr>
              <a:t>im</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定义全局变量</a:t>
            </a:r>
          </a:p>
          <a:p>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str=get(</a:t>
            </a:r>
            <a:r>
              <a:rPr lang="en-US" altLang="zh-CN" sz="1600" dirty="0" err="1">
                <a:latin typeface="Times New Roman" panose="02020603050405020304" pitchFamily="18" charset="0"/>
                <a:ea typeface="微软雅黑" panose="020B0503020204020204" pitchFamily="34" charset="-122"/>
                <a:cs typeface="Times New Roman" panose="02020603050405020304" pitchFamily="18" charset="0"/>
              </a:rPr>
              <a:t>hObject</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,'string');</a:t>
            </a:r>
          </a:p>
          <a:p>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axes(handles.axes2);</a:t>
            </a:r>
          </a:p>
          <a:p>
            <a:pPr indent="457200"/>
            <a:endParaRPr lang="zh-CN" altLang="en-US" sz="1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dirty="0"/>
          </a:p>
        </p:txBody>
      </p:sp>
      <p:sp>
        <p:nvSpPr>
          <p:cNvPr id="9" name="Rectangle 2"/>
          <p:cNvSpPr txBox="1"/>
          <p:nvPr/>
        </p:nvSpPr>
        <p:spPr>
          <a:xfrm>
            <a:off x="1648460" y="260865"/>
            <a:ext cx="8895080" cy="720725"/>
          </a:xfrm>
        </p:spPr>
        <p:txBody>
          <a:bodyPr vert="horz" wrap="square" lIns="91440" tIns="45720" rIns="91440" bIns="45720"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案例</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4 </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基于</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MATLAB GUI</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的数字图像处理设计</a:t>
            </a:r>
            <a:br>
              <a:rPr lang="zh-CN" altLang="en-US" sz="2800" b="1" dirty="0">
                <a:ln w="0"/>
                <a:effectLst>
                  <a:outerShdw blurRad="38100" dist="38100" dir="2700000" algn="tl">
                    <a:srgbClr val="000000">
                      <a:alpha val="43137"/>
                    </a:srgbClr>
                  </a:outerShdw>
                </a:effectLst>
                <a:ea typeface="宋体" panose="02010600030101010101" pitchFamily="2" charset="-122"/>
              </a:rPr>
            </a:br>
            <a:endParaRPr lang="en-US" altLang="zh-CN" sz="2800" b="1" dirty="0">
              <a:ln w="0"/>
              <a:effectLst>
                <a:outerShdw blurRad="38100" dist="38100" dir="2700000" algn="tl">
                  <a:srgbClr val="000000">
                    <a:alpha val="43137"/>
                  </a:srgbClr>
                </a:outerShdw>
              </a:effectLst>
              <a:ea typeface="宋体" panose="02010600030101010101" pitchFamily="2" charset="-122"/>
            </a:endParaRPr>
          </a:p>
        </p:txBody>
      </p:sp>
      <p:sp>
        <p:nvSpPr>
          <p:cNvPr id="8" name="文本框 7"/>
          <p:cNvSpPr txBox="1"/>
          <p:nvPr/>
        </p:nvSpPr>
        <p:spPr>
          <a:xfrm>
            <a:off x="5738921" y="981590"/>
            <a:ext cx="6668115" cy="5909310"/>
          </a:xfrm>
          <a:prstGeom prst="rect">
            <a:avLst/>
          </a:prstGeom>
          <a:noFill/>
        </p:spPr>
        <p:txBody>
          <a:bodyPr wrap="square" rtlCol="0">
            <a:spAutoFit/>
          </a:bodyPr>
          <a:lstStyle/>
          <a:p>
            <a:pPr indent="457200"/>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switch str</a:t>
            </a:r>
          </a:p>
          <a:p>
            <a:pPr indent="457200"/>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case '</a:t>
            </a:r>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原图</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p>
          <a:p>
            <a:pPr indent="457200"/>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imshow</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im</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p>
          <a:p>
            <a:pPr indent="457200"/>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case '</a:t>
            </a:r>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sobel</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p>
          <a:p>
            <a:pPr indent="457200"/>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bw1=edge(rgb2gray(</a:t>
            </a:r>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im</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sobel</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p>
          <a:p>
            <a:pPr indent="457200"/>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imshow</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(bw1)</a:t>
            </a:r>
          </a:p>
          <a:p>
            <a:pPr indent="457200"/>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case '</a:t>
            </a:r>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prewitt</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p>
          <a:p>
            <a:pPr indent="457200"/>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bw2=edge(rgb2gray(</a:t>
            </a:r>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im</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prewitt</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p>
          <a:p>
            <a:pPr indent="457200"/>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imshow</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(bw2) </a:t>
            </a:r>
          </a:p>
          <a:p>
            <a:pPr indent="457200"/>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end    </a:t>
            </a:r>
          </a:p>
          <a:p>
            <a:pPr indent="457200"/>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 Executes when selected object is changed in </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uibuttongroup1.</a:t>
            </a:r>
          </a:p>
          <a:p>
            <a:pPr indent="457200"/>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function uibuttongroup1_SelectionChangedFcn(</a:t>
            </a:r>
            <a:r>
              <a:rPr lang="en-US" altLang="zh-CN" b="1" dirty="0" err="1">
                <a:latin typeface="Times New Roman" panose="02020603050405020304" pitchFamily="18" charset="0"/>
                <a:ea typeface="微软雅黑" panose="020B0503020204020204" pitchFamily="34" charset="-122"/>
                <a:cs typeface="Times New Roman" panose="02020603050405020304" pitchFamily="18" charset="0"/>
              </a:rPr>
              <a:t>hObject</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a:t>
            </a:r>
          </a:p>
          <a:p>
            <a:pPr indent="457200"/>
            <a:r>
              <a:rPr lang="en-US" altLang="zh-CN" b="1" dirty="0" err="1">
                <a:latin typeface="Times New Roman" panose="02020603050405020304" pitchFamily="18" charset="0"/>
                <a:ea typeface="微软雅黑" panose="020B0503020204020204" pitchFamily="34" charset="-122"/>
                <a:cs typeface="Times New Roman" panose="02020603050405020304" pitchFamily="18" charset="0"/>
              </a:rPr>
              <a:t>eventdata,handles</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hObject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handle to the selected object in uibuttongroup1 </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eventdata</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reserved - to be defined in a future version of </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MATLAB</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handles    structure with handles and user data (see </a:t>
            </a:r>
          </a:p>
          <a:p>
            <a:pPr indent="457200"/>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GUIDATA)</a:t>
            </a:r>
          </a:p>
          <a:p>
            <a:endParaRPr lang="zh-CN" altLang="en-US" dirty="0"/>
          </a:p>
        </p:txBody>
      </p:sp>
      <p:cxnSp>
        <p:nvCxnSpPr>
          <p:cNvPr id="4" name="直接连接符 3"/>
          <p:cNvCxnSpPr/>
          <p:nvPr/>
        </p:nvCxnSpPr>
        <p:spPr>
          <a:xfrm>
            <a:off x="5885895" y="1006475"/>
            <a:ext cx="0" cy="5851525"/>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图片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600" y="0"/>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8" name="直接连接符 57"/>
          <p:cNvCxnSpPr/>
          <p:nvPr/>
        </p:nvCxnSpPr>
        <p:spPr>
          <a:xfrm>
            <a:off x="0" y="981590"/>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89257" y="1010245"/>
            <a:ext cx="6375145" cy="5693866"/>
          </a:xfrm>
          <a:prstGeom prst="rect">
            <a:avLst/>
          </a:prstGeom>
          <a:noFill/>
        </p:spPr>
        <p:txBody>
          <a:bodyPr wrap="square" rtlCol="0">
            <a:spAutoFit/>
          </a:bodyPr>
          <a:lstStyle/>
          <a:p>
            <a:pPr indent="457200"/>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global </a:t>
            </a:r>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im</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定义全局变量</a:t>
            </a:r>
          </a:p>
          <a:p>
            <a:pPr indent="457200"/>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str=get(</a:t>
            </a:r>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hObject</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,'string');</a:t>
            </a:r>
          </a:p>
          <a:p>
            <a:pPr indent="457200"/>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axes(handles.axes2);</a:t>
            </a:r>
          </a:p>
          <a:p>
            <a:pPr indent="457200"/>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switch str</a:t>
            </a:r>
          </a:p>
          <a:p>
            <a:pPr indent="457200"/>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case '</a:t>
            </a:r>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原图</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p>
          <a:p>
            <a:pPr indent="457200"/>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imshow</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im</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p>
          <a:p>
            <a:pPr indent="457200"/>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case '</a:t>
            </a:r>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sobel</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p>
          <a:p>
            <a:pPr indent="457200"/>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bw1=edge(rgb2gray(</a:t>
            </a:r>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im</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sobel</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p>
          <a:p>
            <a:pPr indent="457200"/>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imshow</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(bw1)</a:t>
            </a:r>
          </a:p>
          <a:p>
            <a:pPr indent="457200"/>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case '</a:t>
            </a:r>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prewitt</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p>
          <a:p>
            <a:pPr indent="457200"/>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bw2=edge(rgb2gray(</a:t>
            </a:r>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im</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prewitt</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p>
          <a:p>
            <a:pPr indent="457200"/>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imshow</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(bw2) </a:t>
            </a:r>
          </a:p>
          <a:p>
            <a:pPr indent="457200"/>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end </a:t>
            </a:r>
          </a:p>
          <a:p>
            <a:pPr indent="457200"/>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 --- Executes when selected object is changed in uibuttongroup2.</a:t>
            </a:r>
          </a:p>
          <a:p>
            <a:pPr indent="457200"/>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function uibuttongroup2_SelectionChangedFcn(</a:t>
            </a:r>
            <a:r>
              <a:rPr lang="en-US" altLang="zh-CN" sz="1600" b="1" dirty="0" err="1">
                <a:latin typeface="Times New Roman" panose="02020603050405020304" pitchFamily="18" charset="0"/>
                <a:ea typeface="微软雅黑" panose="020B0503020204020204" pitchFamily="34" charset="-122"/>
                <a:cs typeface="Times New Roman" panose="02020603050405020304" pitchFamily="18" charset="0"/>
              </a:rPr>
              <a:t>hObject</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a:t>
            </a:r>
          </a:p>
          <a:p>
            <a:pPr indent="457200"/>
            <a:r>
              <a:rPr lang="en-US" altLang="zh-CN" sz="1600" b="1" dirty="0" err="1">
                <a:latin typeface="Times New Roman" panose="02020603050405020304" pitchFamily="18" charset="0"/>
                <a:ea typeface="微软雅黑" panose="020B0503020204020204" pitchFamily="34" charset="-122"/>
                <a:cs typeface="Times New Roman" panose="02020603050405020304" pitchFamily="18" charset="0"/>
              </a:rPr>
              <a:t>eventdata</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handles)</a:t>
            </a:r>
          </a:p>
          <a:p>
            <a:pPr indent="457200"/>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dirty="0" err="1">
                <a:latin typeface="Times New Roman" panose="02020603050405020304" pitchFamily="18" charset="0"/>
                <a:ea typeface="微软雅黑" panose="020B0503020204020204" pitchFamily="34" charset="-122"/>
                <a:cs typeface="Times New Roman" panose="02020603050405020304" pitchFamily="18" charset="0"/>
              </a:rPr>
              <a:t>hObject</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    handle to the selected object in uibuttongroup2 </a:t>
            </a:r>
          </a:p>
          <a:p>
            <a:pPr indent="457200"/>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dirty="0" err="1">
                <a:latin typeface="Times New Roman" panose="02020603050405020304" pitchFamily="18" charset="0"/>
                <a:ea typeface="微软雅黑" panose="020B0503020204020204" pitchFamily="34" charset="-122"/>
                <a:cs typeface="Times New Roman" panose="02020603050405020304" pitchFamily="18" charset="0"/>
              </a:rPr>
              <a:t>eventdata</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  reserved - to be defined in a future version of </a:t>
            </a:r>
          </a:p>
          <a:p>
            <a:pPr indent="457200"/>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MATLAB</a:t>
            </a:r>
          </a:p>
          <a:p>
            <a:pPr indent="457200"/>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 handles    structure with handles and user data (see GUIDATA)</a:t>
            </a:r>
          </a:p>
          <a:p>
            <a:endParaRPr lang="zh-CN" altLang="en-US" dirty="0"/>
          </a:p>
        </p:txBody>
      </p:sp>
      <p:sp>
        <p:nvSpPr>
          <p:cNvPr id="9" name="Rectangle 2"/>
          <p:cNvSpPr txBox="1"/>
          <p:nvPr/>
        </p:nvSpPr>
        <p:spPr>
          <a:xfrm>
            <a:off x="1648460" y="260865"/>
            <a:ext cx="8895080" cy="720725"/>
          </a:xfrm>
        </p:spPr>
        <p:txBody>
          <a:bodyPr vert="horz" wrap="square" lIns="91440" tIns="45720" rIns="91440" bIns="45720"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案例</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4 </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基于</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MATLAB GUI</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的数字图像处理设计</a:t>
            </a:r>
            <a:br>
              <a:rPr lang="zh-CN" altLang="en-US" sz="2800" b="1" dirty="0">
                <a:ln w="0"/>
                <a:effectLst>
                  <a:outerShdw blurRad="38100" dist="38100" dir="2700000" algn="tl">
                    <a:srgbClr val="000000">
                      <a:alpha val="43137"/>
                    </a:srgbClr>
                  </a:outerShdw>
                </a:effectLst>
                <a:ea typeface="宋体" panose="02010600030101010101" pitchFamily="2" charset="-122"/>
              </a:rPr>
            </a:br>
            <a:endParaRPr lang="en-US" altLang="zh-CN" sz="2800" b="1" dirty="0">
              <a:ln w="0"/>
              <a:effectLst>
                <a:outerShdw blurRad="38100" dist="38100" dir="2700000" algn="tl">
                  <a:srgbClr val="000000">
                    <a:alpha val="43137"/>
                  </a:srgbClr>
                </a:outerShdw>
              </a:effectLst>
              <a:ea typeface="宋体" panose="02010600030101010101" pitchFamily="2" charset="-122"/>
            </a:endParaRPr>
          </a:p>
        </p:txBody>
      </p:sp>
      <p:sp>
        <p:nvSpPr>
          <p:cNvPr id="8" name="文本框 7"/>
          <p:cNvSpPr txBox="1"/>
          <p:nvPr/>
        </p:nvSpPr>
        <p:spPr>
          <a:xfrm>
            <a:off x="5703410" y="976011"/>
            <a:ext cx="6668115" cy="6740307"/>
          </a:xfrm>
          <a:prstGeom prst="rect">
            <a:avLst/>
          </a:prstGeom>
          <a:noFill/>
        </p:spPr>
        <p:txBody>
          <a:bodyPr wrap="square" rtlCol="0">
            <a:spAutoFit/>
          </a:bodyPr>
          <a:lstStyle/>
          <a:p>
            <a:pPr indent="457200"/>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global </a:t>
            </a:r>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im</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p>
          <a:p>
            <a:pPr indent="457200"/>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global j1;</a:t>
            </a:r>
          </a:p>
          <a:p>
            <a:pPr indent="457200"/>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global j2;</a:t>
            </a:r>
          </a:p>
          <a:p>
            <a:pPr indent="457200"/>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global j3;</a:t>
            </a:r>
          </a:p>
          <a:p>
            <a:pPr indent="457200"/>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global j4;</a:t>
            </a:r>
          </a:p>
          <a:p>
            <a:pPr indent="457200"/>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global </a:t>
            </a:r>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hR</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p>
          <a:p>
            <a:pPr indent="457200"/>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global </a:t>
            </a:r>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hG</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p>
          <a:p>
            <a:pPr indent="457200"/>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global </a:t>
            </a:r>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hB</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p>
          <a:p>
            <a:pPr indent="457200"/>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str=get(</a:t>
            </a:r>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hObject</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,'string');</a:t>
            </a:r>
          </a:p>
          <a:p>
            <a:pPr indent="457200"/>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axes(handles.axes2);</a:t>
            </a:r>
          </a:p>
          <a:p>
            <a:pPr indent="457200"/>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j1=</a:t>
            </a:r>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im</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a:t>
            </a:r>
          </a:p>
          <a:p>
            <a:pPr indent="457200"/>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j2=</a:t>
            </a:r>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im</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a:t>
            </a:r>
          </a:p>
          <a:p>
            <a:pPr indent="457200"/>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j3=</a:t>
            </a:r>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im</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(:,:,3);</a:t>
            </a:r>
          </a:p>
          <a:p>
            <a:pPr indent="457200"/>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hR</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imhist</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(j1);</a:t>
            </a:r>
          </a:p>
          <a:p>
            <a:pPr indent="457200"/>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hG</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imhist</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(j2);</a:t>
            </a:r>
          </a:p>
          <a:p>
            <a:pPr indent="457200"/>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hB</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imhist</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(j3);</a:t>
            </a:r>
          </a:p>
          <a:p>
            <a:pPr indent="457200"/>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switch str</a:t>
            </a:r>
          </a:p>
          <a:p>
            <a:pPr indent="457200"/>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case 'RGB-R </a:t>
            </a:r>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灰度直方图</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p>
          <a:p>
            <a:pPr indent="457200"/>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bar(1:length(</a:t>
            </a:r>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hR</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hR</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,'r');</a:t>
            </a:r>
          </a:p>
          <a:p>
            <a:pPr indent="457200"/>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case 'RGB-G </a:t>
            </a:r>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灰度直方图</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p>
          <a:p>
            <a:pPr indent="457200"/>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bar(1:length(</a:t>
            </a:r>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hG</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hG</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,'g');</a:t>
            </a:r>
          </a:p>
          <a:p>
            <a:pPr indent="457200"/>
            <a:endPar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indent="457200"/>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dirty="0"/>
          </a:p>
        </p:txBody>
      </p:sp>
      <p:cxnSp>
        <p:nvCxnSpPr>
          <p:cNvPr id="4" name="直接连接符 3"/>
          <p:cNvCxnSpPr/>
          <p:nvPr/>
        </p:nvCxnSpPr>
        <p:spPr>
          <a:xfrm>
            <a:off x="5885895" y="1006475"/>
            <a:ext cx="0" cy="5851525"/>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图片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600" y="0"/>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8" name="直接连接符 57"/>
          <p:cNvCxnSpPr/>
          <p:nvPr/>
        </p:nvCxnSpPr>
        <p:spPr>
          <a:xfrm>
            <a:off x="0" y="981590"/>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18229" y="877602"/>
            <a:ext cx="6375145" cy="6310958"/>
          </a:xfrm>
          <a:prstGeom prst="rect">
            <a:avLst/>
          </a:prstGeom>
          <a:noFill/>
        </p:spPr>
        <p:txBody>
          <a:bodyPr wrap="square" rtlCol="0">
            <a:spAutoFit/>
          </a:bodyPr>
          <a:lstStyle/>
          <a:p>
            <a:pPr indent="457200">
              <a:lnSpc>
                <a:spcPct val="120000"/>
              </a:lnSpc>
            </a:pP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case 'RGB-B </a:t>
            </a:r>
            <a:r>
              <a:rPr lang="zh-CN" altLang="en-US"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灰度直方图</a:t>
            </a: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p>
          <a:p>
            <a:pPr indent="457200">
              <a:lnSpc>
                <a:spcPct val="120000"/>
              </a:lnSpc>
            </a:pP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bar(1:length(</a:t>
            </a:r>
            <a:r>
              <a:rPr lang="en-US" altLang="zh-CN" sz="2000"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hB</a:t>
            </a: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hB</a:t>
            </a: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,'b');</a:t>
            </a:r>
          </a:p>
          <a:p>
            <a:pPr indent="457200">
              <a:lnSpc>
                <a:spcPct val="120000"/>
              </a:lnSpc>
            </a:pP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case 'R G B </a:t>
            </a:r>
            <a:r>
              <a:rPr lang="zh-CN" altLang="en-US"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灰度直方图</a:t>
            </a: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p>
          <a:p>
            <a:pPr indent="457200">
              <a:lnSpc>
                <a:spcPct val="120000"/>
              </a:lnSpc>
            </a:pP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plot(1:length(</a:t>
            </a:r>
            <a:r>
              <a:rPr lang="en-US" altLang="zh-CN" sz="2000"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hR</a:t>
            </a: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hR</a:t>
            </a: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,'r');</a:t>
            </a:r>
          </a:p>
          <a:p>
            <a:pPr indent="457200">
              <a:lnSpc>
                <a:spcPct val="120000"/>
              </a:lnSpc>
            </a:pP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hold on</a:t>
            </a:r>
          </a:p>
          <a:p>
            <a:pPr indent="457200">
              <a:lnSpc>
                <a:spcPct val="120000"/>
              </a:lnSpc>
            </a:pP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plot(1:length(</a:t>
            </a:r>
            <a:r>
              <a:rPr lang="en-US" altLang="zh-CN" sz="2000"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hG</a:t>
            </a: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hG</a:t>
            </a: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,'g');</a:t>
            </a:r>
          </a:p>
          <a:p>
            <a:pPr indent="457200">
              <a:lnSpc>
                <a:spcPct val="120000"/>
              </a:lnSpc>
            </a:pP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hold on</a:t>
            </a:r>
          </a:p>
          <a:p>
            <a:pPr indent="457200">
              <a:lnSpc>
                <a:spcPct val="120000"/>
              </a:lnSpc>
            </a:pP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plot(1:length(</a:t>
            </a:r>
            <a:r>
              <a:rPr lang="en-US" altLang="zh-CN" sz="2000"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hB</a:t>
            </a: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hB</a:t>
            </a: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,'b');</a:t>
            </a:r>
          </a:p>
          <a:p>
            <a:pPr indent="457200">
              <a:lnSpc>
                <a:spcPct val="120000"/>
              </a:lnSpc>
            </a:pP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xlim</a:t>
            </a: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([0 255]);</a:t>
            </a:r>
          </a:p>
          <a:p>
            <a:pPr indent="457200">
              <a:lnSpc>
                <a:spcPct val="120000"/>
              </a:lnSpc>
            </a:pP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hold off</a:t>
            </a:r>
          </a:p>
          <a:p>
            <a:pPr indent="457200">
              <a:lnSpc>
                <a:spcPct val="120000"/>
              </a:lnSpc>
            </a:pP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case 'RGB-R'  </a:t>
            </a:r>
          </a:p>
          <a:p>
            <a:pPr indent="457200">
              <a:lnSpc>
                <a:spcPct val="120000"/>
              </a:lnSpc>
            </a:pP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imshow</a:t>
            </a: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(j1); </a:t>
            </a:r>
          </a:p>
          <a:p>
            <a:pPr indent="457200">
              <a:lnSpc>
                <a:spcPct val="120000"/>
              </a:lnSpc>
            </a:pP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case 'RGB-G'  </a:t>
            </a:r>
          </a:p>
          <a:p>
            <a:pPr indent="457200">
              <a:lnSpc>
                <a:spcPct val="120000"/>
              </a:lnSpc>
            </a:pP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imshow</a:t>
            </a: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(j2);</a:t>
            </a:r>
          </a:p>
          <a:p>
            <a:pPr indent="457200">
              <a:lnSpc>
                <a:spcPct val="120000"/>
              </a:lnSpc>
            </a:pP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case 'RGB-B'  </a:t>
            </a:r>
          </a:p>
          <a:p>
            <a:pPr indent="457200">
              <a:lnSpc>
                <a:spcPct val="120000"/>
              </a:lnSpc>
            </a:pP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imshow</a:t>
            </a: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(j3);</a:t>
            </a:r>
          </a:p>
          <a:p>
            <a:pPr indent="457200">
              <a:lnSpc>
                <a:spcPct val="120000"/>
              </a:lnSpc>
            </a:pPr>
            <a:r>
              <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endParaRPr lang="zh-CN" altLang="en-US" dirty="0"/>
          </a:p>
        </p:txBody>
      </p:sp>
      <p:sp>
        <p:nvSpPr>
          <p:cNvPr id="9" name="Rectangle 2"/>
          <p:cNvSpPr txBox="1"/>
          <p:nvPr/>
        </p:nvSpPr>
        <p:spPr>
          <a:xfrm>
            <a:off x="1648460" y="260865"/>
            <a:ext cx="8895080" cy="720725"/>
          </a:xfrm>
        </p:spPr>
        <p:txBody>
          <a:bodyPr vert="horz" wrap="square" lIns="91440" tIns="45720" rIns="91440" bIns="45720"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案例</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4 </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基于</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MATLAB GUI</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的数字图像处理设计</a:t>
            </a:r>
            <a:br>
              <a:rPr lang="zh-CN" altLang="en-US" sz="2800" b="1" dirty="0">
                <a:ln w="0"/>
                <a:effectLst>
                  <a:outerShdw blurRad="38100" dist="38100" dir="2700000" algn="tl">
                    <a:srgbClr val="000000">
                      <a:alpha val="43137"/>
                    </a:srgbClr>
                  </a:outerShdw>
                </a:effectLst>
                <a:ea typeface="宋体" panose="02010600030101010101" pitchFamily="2" charset="-122"/>
              </a:rPr>
            </a:br>
            <a:endParaRPr lang="en-US" altLang="zh-CN" sz="2800" b="1" dirty="0">
              <a:ln w="0"/>
              <a:effectLst>
                <a:outerShdw blurRad="38100" dist="38100" dir="2700000" algn="tl">
                  <a:srgbClr val="000000">
                    <a:alpha val="43137"/>
                  </a:srgbClr>
                </a:outerShdw>
              </a:effectLst>
              <a:ea typeface="宋体" panose="02010600030101010101" pitchFamily="2" charset="-122"/>
            </a:endParaRPr>
          </a:p>
        </p:txBody>
      </p:sp>
      <p:sp>
        <p:nvSpPr>
          <p:cNvPr id="8" name="文本框 7"/>
          <p:cNvSpPr txBox="1"/>
          <p:nvPr/>
        </p:nvSpPr>
        <p:spPr>
          <a:xfrm>
            <a:off x="5703410" y="976011"/>
            <a:ext cx="6668115" cy="6555641"/>
          </a:xfrm>
          <a:prstGeom prst="rect">
            <a:avLst/>
          </a:prstGeom>
          <a:noFill/>
        </p:spPr>
        <p:txBody>
          <a:bodyPr wrap="square" rtlCol="0">
            <a:spAutoFit/>
          </a:bodyPr>
          <a:lstStyle/>
          <a:p>
            <a:pPr indent="457200">
              <a:lnSpc>
                <a:spcPct val="120000"/>
              </a:lnSpc>
            </a:pP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case 'R-G'</a:t>
            </a:r>
          </a:p>
          <a:p>
            <a:pPr indent="457200">
              <a:lnSpc>
                <a:spcPct val="120000"/>
              </a:lnSpc>
            </a:pP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j=j1-j2;</a:t>
            </a:r>
          </a:p>
          <a:p>
            <a:pPr indent="457200">
              <a:lnSpc>
                <a:spcPct val="120000"/>
              </a:lnSpc>
            </a:pP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imshow</a:t>
            </a: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(j);</a:t>
            </a:r>
          </a:p>
          <a:p>
            <a:pPr indent="457200">
              <a:lnSpc>
                <a:spcPct val="120000"/>
              </a:lnSpc>
            </a:pP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case 'G-B'</a:t>
            </a:r>
          </a:p>
          <a:p>
            <a:pPr indent="457200">
              <a:lnSpc>
                <a:spcPct val="120000"/>
              </a:lnSpc>
            </a:pP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j=j1-j3;</a:t>
            </a:r>
          </a:p>
          <a:p>
            <a:pPr indent="457200">
              <a:lnSpc>
                <a:spcPct val="120000"/>
              </a:lnSpc>
            </a:pP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imshow</a:t>
            </a: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(j);</a:t>
            </a:r>
          </a:p>
          <a:p>
            <a:pPr indent="457200">
              <a:lnSpc>
                <a:spcPct val="120000"/>
              </a:lnSpc>
            </a:pP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case 'R-B'</a:t>
            </a:r>
          </a:p>
          <a:p>
            <a:pPr indent="457200">
              <a:lnSpc>
                <a:spcPct val="120000"/>
              </a:lnSpc>
            </a:pP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j=j2-j3;</a:t>
            </a:r>
          </a:p>
          <a:p>
            <a:pPr indent="457200">
              <a:lnSpc>
                <a:spcPct val="120000"/>
              </a:lnSpc>
            </a:pP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imshow</a:t>
            </a: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(j);        </a:t>
            </a:r>
          </a:p>
          <a:p>
            <a:pPr indent="457200">
              <a:lnSpc>
                <a:spcPct val="120000"/>
              </a:lnSpc>
            </a:pP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case 'R-G</a:t>
            </a:r>
            <a:r>
              <a:rPr lang="zh-CN" altLang="en-US"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提取模板</a:t>
            </a: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p>
          <a:p>
            <a:pPr indent="457200">
              <a:lnSpc>
                <a:spcPct val="120000"/>
              </a:lnSpc>
            </a:pP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j4=255-((j1-j2)*10-200)*255;</a:t>
            </a:r>
          </a:p>
          <a:p>
            <a:pPr indent="457200">
              <a:lnSpc>
                <a:spcPct val="120000"/>
              </a:lnSpc>
            </a:pP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imshow</a:t>
            </a: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(j4)</a:t>
            </a:r>
          </a:p>
          <a:p>
            <a:pPr indent="457200">
              <a:lnSpc>
                <a:spcPct val="120000"/>
              </a:lnSpc>
            </a:pP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case '</a:t>
            </a:r>
            <a:r>
              <a:rPr lang="zh-CN" altLang="en-US"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提取苹果</a:t>
            </a: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p>
          <a:p>
            <a:pPr indent="457200">
              <a:lnSpc>
                <a:spcPct val="120000"/>
              </a:lnSpc>
            </a:pP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j=cat(3,j1-j4,j2-j4,j3-j4);</a:t>
            </a:r>
          </a:p>
          <a:p>
            <a:pPr indent="457200">
              <a:lnSpc>
                <a:spcPct val="120000"/>
              </a:lnSpc>
            </a:pP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imshow</a:t>
            </a: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(j)</a:t>
            </a:r>
          </a:p>
          <a:p>
            <a:pPr indent="457200">
              <a:lnSpc>
                <a:spcPct val="120000"/>
              </a:lnSpc>
            </a:pP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end</a:t>
            </a:r>
          </a:p>
          <a:p>
            <a:pPr indent="457200"/>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dirty="0"/>
          </a:p>
        </p:txBody>
      </p:sp>
      <p:cxnSp>
        <p:nvCxnSpPr>
          <p:cNvPr id="4" name="直接连接符 3"/>
          <p:cNvCxnSpPr/>
          <p:nvPr/>
        </p:nvCxnSpPr>
        <p:spPr>
          <a:xfrm>
            <a:off x="5885895" y="1006475"/>
            <a:ext cx="0" cy="5851525"/>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图片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600" y="0"/>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8" name="直接连接符 57"/>
          <p:cNvCxnSpPr/>
          <p:nvPr/>
        </p:nvCxnSpPr>
        <p:spPr>
          <a:xfrm>
            <a:off x="0" y="981590"/>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9" name="Rectangle 2"/>
          <p:cNvSpPr txBox="1"/>
          <p:nvPr/>
        </p:nvSpPr>
        <p:spPr>
          <a:xfrm>
            <a:off x="1648460" y="260865"/>
            <a:ext cx="8895080" cy="720725"/>
          </a:xfrm>
        </p:spPr>
        <p:txBody>
          <a:bodyPr vert="horz" wrap="square" lIns="91440" tIns="45720" rIns="91440" bIns="45720"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案例</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4 </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基于</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MATLAB GUI</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的数字图像处理设计</a:t>
            </a:r>
            <a:br>
              <a:rPr lang="zh-CN" altLang="en-US" sz="2800" b="1" dirty="0">
                <a:ln w="0"/>
                <a:effectLst>
                  <a:outerShdw blurRad="38100" dist="38100" dir="2700000" algn="tl">
                    <a:srgbClr val="000000">
                      <a:alpha val="43137"/>
                    </a:srgbClr>
                  </a:outerShdw>
                </a:effectLst>
                <a:ea typeface="宋体" panose="02010600030101010101" pitchFamily="2" charset="-122"/>
              </a:rPr>
            </a:br>
            <a:endParaRPr lang="en-US" altLang="zh-CN" sz="2800" b="1" dirty="0">
              <a:ln w="0"/>
              <a:effectLst>
                <a:outerShdw blurRad="38100" dist="38100" dir="2700000" algn="tl">
                  <a:srgbClr val="000000">
                    <a:alpha val="43137"/>
                  </a:srgbClr>
                </a:outerShdw>
              </a:effectLst>
              <a:ea typeface="宋体" panose="02010600030101010101" pitchFamily="2" charset="-122"/>
            </a:endParaRPr>
          </a:p>
        </p:txBody>
      </p:sp>
      <p:pic>
        <p:nvPicPr>
          <p:cNvPr id="6" name="图片 5"/>
          <p:cNvPicPr/>
          <p:nvPr/>
        </p:nvPicPr>
        <p:blipFill>
          <a:blip r:embed="rId4" cstate="print"/>
          <a:stretch>
            <a:fillRect/>
          </a:stretch>
        </p:blipFill>
        <p:spPr>
          <a:xfrm>
            <a:off x="532659" y="1063385"/>
            <a:ext cx="4447713" cy="2434418"/>
          </a:xfrm>
          <a:prstGeom prst="rect">
            <a:avLst/>
          </a:prstGeom>
        </p:spPr>
      </p:pic>
      <p:pic>
        <p:nvPicPr>
          <p:cNvPr id="7" name="图片 6"/>
          <p:cNvPicPr/>
          <p:nvPr/>
        </p:nvPicPr>
        <p:blipFill>
          <a:blip r:embed="rId5" cstate="print"/>
          <a:stretch>
            <a:fillRect/>
          </a:stretch>
        </p:blipFill>
        <p:spPr>
          <a:xfrm>
            <a:off x="6516237" y="1006476"/>
            <a:ext cx="4385542" cy="2491327"/>
          </a:xfrm>
          <a:prstGeom prst="rect">
            <a:avLst/>
          </a:prstGeom>
        </p:spPr>
      </p:pic>
      <p:pic>
        <p:nvPicPr>
          <p:cNvPr id="8" name="图片 7"/>
          <p:cNvPicPr/>
          <p:nvPr/>
        </p:nvPicPr>
        <p:blipFill>
          <a:blip r:embed="rId6" cstate="print"/>
          <a:stretch>
            <a:fillRect/>
          </a:stretch>
        </p:blipFill>
        <p:spPr>
          <a:xfrm>
            <a:off x="532659" y="4284892"/>
            <a:ext cx="4447712" cy="2027132"/>
          </a:xfrm>
          <a:prstGeom prst="rect">
            <a:avLst/>
          </a:prstGeom>
        </p:spPr>
      </p:pic>
      <p:pic>
        <p:nvPicPr>
          <p:cNvPr id="10" name="图片 9"/>
          <p:cNvPicPr/>
          <p:nvPr/>
        </p:nvPicPr>
        <p:blipFill>
          <a:blip r:embed="rId7" cstate="print"/>
          <a:stretch>
            <a:fillRect/>
          </a:stretch>
        </p:blipFill>
        <p:spPr>
          <a:xfrm>
            <a:off x="6516237" y="4284893"/>
            <a:ext cx="4447712" cy="2027132"/>
          </a:xfrm>
          <a:prstGeom prst="rect">
            <a:avLst/>
          </a:prstGeom>
        </p:spPr>
      </p:pic>
      <p:sp>
        <p:nvSpPr>
          <p:cNvPr id="11" name="文本框 10"/>
          <p:cNvSpPr txBox="1"/>
          <p:nvPr/>
        </p:nvSpPr>
        <p:spPr>
          <a:xfrm>
            <a:off x="353089" y="3706681"/>
            <a:ext cx="5504896" cy="369332"/>
          </a:xfrm>
          <a:prstGeom prst="rect">
            <a:avLst/>
          </a:prstGeom>
          <a:noFill/>
        </p:spPr>
        <p:txBody>
          <a:bodyPr wrap="square" rtlCol="0">
            <a:spAutoFit/>
          </a:bodyPr>
          <a:lstStyle/>
          <a:p>
            <a:pPr algn="ctr"/>
            <a:r>
              <a:rPr lang="zh-CN" altLang="en-US" dirty="0">
                <a:latin typeface="Times New Roman" panose="02020603050405020304" pitchFamily="18" charset="0"/>
                <a:ea typeface="微软雅黑" panose="020B0503020204020204" pitchFamily="34" charset="-122"/>
              </a:rPr>
              <a:t>图</a:t>
            </a:r>
            <a:r>
              <a:rPr lang="en-US" altLang="zh-CN" dirty="0">
                <a:latin typeface="Times New Roman" panose="02020603050405020304" pitchFamily="18" charset="0"/>
                <a:ea typeface="微软雅黑" panose="020B0503020204020204" pitchFamily="34" charset="-122"/>
              </a:rPr>
              <a:t>14-24 </a:t>
            </a:r>
            <a:r>
              <a:rPr lang="zh-CN" altLang="en-US" dirty="0">
                <a:latin typeface="Times New Roman" panose="02020603050405020304" pitchFamily="18" charset="0"/>
                <a:ea typeface="微软雅黑" panose="020B0503020204020204" pitchFamily="34" charset="-122"/>
              </a:rPr>
              <a:t>设计好的</a:t>
            </a:r>
            <a:r>
              <a:rPr lang="en-US" altLang="zh-CN" dirty="0">
                <a:latin typeface="Times New Roman" panose="02020603050405020304" pitchFamily="18" charset="0"/>
                <a:ea typeface="微软雅黑" panose="020B0503020204020204" pitchFamily="34" charset="-122"/>
              </a:rPr>
              <a:t>GUI</a:t>
            </a:r>
            <a:r>
              <a:rPr lang="zh-CN" altLang="en-US" dirty="0">
                <a:latin typeface="Times New Roman" panose="02020603050405020304" pitchFamily="18" charset="0"/>
                <a:ea typeface="微软雅黑" panose="020B0503020204020204" pitchFamily="34" charset="-122"/>
              </a:rPr>
              <a:t>界面</a:t>
            </a:r>
          </a:p>
        </p:txBody>
      </p:sp>
      <p:sp>
        <p:nvSpPr>
          <p:cNvPr id="12" name="文本框 11"/>
          <p:cNvSpPr txBox="1"/>
          <p:nvPr/>
        </p:nvSpPr>
        <p:spPr>
          <a:xfrm>
            <a:off x="6096000" y="3763161"/>
            <a:ext cx="5504896" cy="369332"/>
          </a:xfrm>
          <a:prstGeom prst="rect">
            <a:avLst/>
          </a:prstGeom>
          <a:noFill/>
        </p:spPr>
        <p:txBody>
          <a:bodyPr wrap="square" rtlCol="0">
            <a:spAutoFit/>
          </a:bodyPr>
          <a:lstStyle/>
          <a:p>
            <a:pPr algn="ctr"/>
            <a:r>
              <a:rPr lang="zh-CN" altLang="en-US" dirty="0">
                <a:latin typeface="Times New Roman" panose="02020603050405020304" pitchFamily="18" charset="0"/>
                <a:ea typeface="微软雅黑" panose="020B0503020204020204" pitchFamily="34" charset="-122"/>
              </a:rPr>
              <a:t>图</a:t>
            </a:r>
            <a:r>
              <a:rPr lang="en-US" altLang="zh-CN" dirty="0">
                <a:latin typeface="Times New Roman" panose="02020603050405020304" pitchFamily="18" charset="0"/>
                <a:ea typeface="微软雅黑" panose="020B0503020204020204" pitchFamily="34" charset="-122"/>
              </a:rPr>
              <a:t>14-25</a:t>
            </a:r>
            <a:r>
              <a:rPr lang="zh-CN" altLang="en-US" dirty="0">
                <a:latin typeface="Times New Roman" panose="02020603050405020304" pitchFamily="18" charset="0"/>
                <a:ea typeface="微软雅黑" panose="020B0503020204020204" pitchFamily="34" charset="-122"/>
              </a:rPr>
              <a:t>读取图像后</a:t>
            </a:r>
          </a:p>
        </p:txBody>
      </p:sp>
      <p:sp>
        <p:nvSpPr>
          <p:cNvPr id="13" name="文本框 12"/>
          <p:cNvSpPr txBox="1"/>
          <p:nvPr/>
        </p:nvSpPr>
        <p:spPr>
          <a:xfrm>
            <a:off x="249515" y="6412469"/>
            <a:ext cx="5504896" cy="369332"/>
          </a:xfrm>
          <a:prstGeom prst="rect">
            <a:avLst/>
          </a:prstGeom>
          <a:noFill/>
        </p:spPr>
        <p:txBody>
          <a:bodyPr wrap="square" rtlCol="0">
            <a:spAutoFit/>
          </a:bodyPr>
          <a:lstStyle/>
          <a:p>
            <a:pPr algn="ctr"/>
            <a:r>
              <a:rPr lang="zh-CN" altLang="en-US" dirty="0">
                <a:latin typeface="Times New Roman" panose="02020603050405020304" pitchFamily="18" charset="0"/>
                <a:ea typeface="微软雅黑" panose="020B0503020204020204" pitchFamily="34" charset="-122"/>
              </a:rPr>
              <a:t>图</a:t>
            </a:r>
            <a:r>
              <a:rPr lang="en-US" altLang="zh-CN" dirty="0">
                <a:latin typeface="Times New Roman" panose="02020603050405020304" pitchFamily="18" charset="0"/>
                <a:ea typeface="微软雅黑" panose="020B0503020204020204" pitchFamily="34" charset="-122"/>
              </a:rPr>
              <a:t>14-26 </a:t>
            </a:r>
            <a:r>
              <a:rPr lang="zh-CN" altLang="en-US" dirty="0">
                <a:latin typeface="Times New Roman" panose="02020603050405020304" pitchFamily="18" charset="0"/>
                <a:ea typeface="微软雅黑" panose="020B0503020204020204" pitchFamily="34" charset="-122"/>
              </a:rPr>
              <a:t>灰度直方图</a:t>
            </a:r>
          </a:p>
        </p:txBody>
      </p:sp>
      <p:sp>
        <p:nvSpPr>
          <p:cNvPr id="14" name="文本框 13"/>
          <p:cNvSpPr txBox="1"/>
          <p:nvPr/>
        </p:nvSpPr>
        <p:spPr>
          <a:xfrm>
            <a:off x="6437589" y="6412469"/>
            <a:ext cx="5504896" cy="369332"/>
          </a:xfrm>
          <a:prstGeom prst="rect">
            <a:avLst/>
          </a:prstGeom>
          <a:noFill/>
        </p:spPr>
        <p:txBody>
          <a:bodyPr wrap="square" rtlCol="0">
            <a:spAutoFit/>
          </a:bodyPr>
          <a:lstStyle/>
          <a:p>
            <a:pPr algn="ctr"/>
            <a:r>
              <a:rPr lang="zh-CN" altLang="en-US" dirty="0">
                <a:latin typeface="Times New Roman" panose="02020603050405020304" pitchFamily="18" charset="0"/>
                <a:ea typeface="微软雅黑" panose="020B0503020204020204" pitchFamily="34" charset="-122"/>
              </a:rPr>
              <a:t>图</a:t>
            </a:r>
            <a:r>
              <a:rPr lang="en-US" altLang="zh-CN" dirty="0">
                <a:latin typeface="Times New Roman" panose="02020603050405020304" pitchFamily="18" charset="0"/>
                <a:ea typeface="微软雅黑" panose="020B0503020204020204" pitchFamily="34" charset="-122"/>
              </a:rPr>
              <a:t>14-27 Sobel</a:t>
            </a:r>
            <a:r>
              <a:rPr lang="zh-CN" altLang="en-US" dirty="0">
                <a:latin typeface="Times New Roman" panose="02020603050405020304" pitchFamily="18" charset="0"/>
                <a:ea typeface="微软雅黑" panose="020B0503020204020204" pitchFamily="34" charset="-122"/>
              </a:rPr>
              <a:t>边缘算子</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图片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600" y="0"/>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8" name="直接连接符 57"/>
          <p:cNvCxnSpPr/>
          <p:nvPr/>
        </p:nvCxnSpPr>
        <p:spPr>
          <a:xfrm>
            <a:off x="0" y="981590"/>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9" name="Rectangle 2"/>
          <p:cNvSpPr txBox="1"/>
          <p:nvPr/>
        </p:nvSpPr>
        <p:spPr>
          <a:xfrm>
            <a:off x="1648460" y="260865"/>
            <a:ext cx="8895080" cy="720725"/>
          </a:xfrm>
        </p:spPr>
        <p:txBody>
          <a:bodyPr vert="horz" wrap="square" lIns="91440" tIns="45720" rIns="91440" bIns="45720"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案例</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4 </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基于</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MATLAB GUI</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的数字图像处理设计</a:t>
            </a:r>
            <a:br>
              <a:rPr lang="zh-CN" altLang="en-US" sz="2800" b="1" dirty="0">
                <a:ln w="0"/>
                <a:effectLst>
                  <a:outerShdw blurRad="38100" dist="38100" dir="2700000" algn="tl">
                    <a:srgbClr val="000000">
                      <a:alpha val="43137"/>
                    </a:srgbClr>
                  </a:outerShdw>
                </a:effectLst>
                <a:ea typeface="宋体" panose="02010600030101010101" pitchFamily="2" charset="-122"/>
              </a:rPr>
            </a:br>
            <a:endParaRPr lang="en-US" altLang="zh-CN" sz="2800" b="1" dirty="0">
              <a:ln w="0"/>
              <a:effectLst>
                <a:outerShdw blurRad="38100" dist="38100" dir="2700000" algn="tl">
                  <a:srgbClr val="000000">
                    <a:alpha val="43137"/>
                  </a:srgbClr>
                </a:outerShdw>
              </a:effectLst>
              <a:ea typeface="宋体" panose="02010600030101010101" pitchFamily="2" charset="-122"/>
            </a:endParaRPr>
          </a:p>
        </p:txBody>
      </p:sp>
      <p:sp>
        <p:nvSpPr>
          <p:cNvPr id="11" name="文本框 10"/>
          <p:cNvSpPr txBox="1"/>
          <p:nvPr/>
        </p:nvSpPr>
        <p:spPr>
          <a:xfrm>
            <a:off x="249515" y="3684424"/>
            <a:ext cx="5504896" cy="369332"/>
          </a:xfrm>
          <a:prstGeom prst="rect">
            <a:avLst/>
          </a:prstGeom>
          <a:noFill/>
        </p:spPr>
        <p:txBody>
          <a:bodyPr wrap="square" rtlCol="0">
            <a:spAutoFit/>
          </a:bodyPr>
          <a:lstStyle/>
          <a:p>
            <a:pPr algn="ctr"/>
            <a:r>
              <a:rPr lang="zh-CN" altLang="en-US" dirty="0">
                <a:latin typeface="Times New Roman" panose="02020603050405020304" pitchFamily="18" charset="0"/>
                <a:ea typeface="微软雅黑" panose="020B0503020204020204" pitchFamily="34" charset="-122"/>
              </a:rPr>
              <a:t>图</a:t>
            </a:r>
            <a:r>
              <a:rPr lang="en-US" altLang="zh-CN" dirty="0">
                <a:latin typeface="Times New Roman" panose="02020603050405020304" pitchFamily="18" charset="0"/>
                <a:ea typeface="微软雅黑" panose="020B0503020204020204" pitchFamily="34" charset="-122"/>
              </a:rPr>
              <a:t>14-28 </a:t>
            </a:r>
            <a:r>
              <a:rPr lang="en-US" altLang="zh-CN" dirty="0" err="1">
                <a:latin typeface="Times New Roman" panose="02020603050405020304" pitchFamily="18" charset="0"/>
                <a:ea typeface="微软雅黑" panose="020B0503020204020204" pitchFamily="34" charset="-122"/>
              </a:rPr>
              <a:t>prewitt</a:t>
            </a:r>
            <a:r>
              <a:rPr lang="zh-CN" altLang="en-US" dirty="0">
                <a:latin typeface="Times New Roman" panose="02020603050405020304" pitchFamily="18" charset="0"/>
                <a:ea typeface="微软雅黑" panose="020B0503020204020204" pitchFamily="34" charset="-122"/>
              </a:rPr>
              <a:t>边缘算子</a:t>
            </a:r>
          </a:p>
        </p:txBody>
      </p:sp>
      <p:sp>
        <p:nvSpPr>
          <p:cNvPr id="12" name="文本框 11"/>
          <p:cNvSpPr txBox="1"/>
          <p:nvPr/>
        </p:nvSpPr>
        <p:spPr>
          <a:xfrm>
            <a:off x="6096000" y="3706681"/>
            <a:ext cx="5504896" cy="369332"/>
          </a:xfrm>
          <a:prstGeom prst="rect">
            <a:avLst/>
          </a:prstGeom>
          <a:noFill/>
        </p:spPr>
        <p:txBody>
          <a:bodyPr wrap="square" rtlCol="0">
            <a:spAutoFit/>
          </a:bodyPr>
          <a:lstStyle/>
          <a:p>
            <a:pPr algn="ctr"/>
            <a:r>
              <a:rPr lang="zh-CN" altLang="en-US" dirty="0">
                <a:latin typeface="Times New Roman" panose="02020603050405020304" pitchFamily="18" charset="0"/>
                <a:ea typeface="微软雅黑" panose="020B0503020204020204" pitchFamily="34" charset="-122"/>
              </a:rPr>
              <a:t>图</a:t>
            </a:r>
            <a:r>
              <a:rPr lang="en-US" altLang="zh-CN" dirty="0">
                <a:latin typeface="Times New Roman" panose="02020603050405020304" pitchFamily="18" charset="0"/>
                <a:ea typeface="微软雅黑" panose="020B0503020204020204" pitchFamily="34" charset="-122"/>
              </a:rPr>
              <a:t>14-29 RGB-R</a:t>
            </a:r>
            <a:endParaRPr lang="zh-CN" altLang="en-US" dirty="0">
              <a:latin typeface="Times New Roman" panose="02020603050405020304" pitchFamily="18" charset="0"/>
              <a:ea typeface="微软雅黑" panose="020B0503020204020204" pitchFamily="34" charset="-122"/>
            </a:endParaRPr>
          </a:p>
        </p:txBody>
      </p:sp>
      <p:sp>
        <p:nvSpPr>
          <p:cNvPr id="13" name="文本框 12"/>
          <p:cNvSpPr txBox="1"/>
          <p:nvPr/>
        </p:nvSpPr>
        <p:spPr>
          <a:xfrm>
            <a:off x="249515" y="6412469"/>
            <a:ext cx="5504896" cy="369332"/>
          </a:xfrm>
          <a:prstGeom prst="rect">
            <a:avLst/>
          </a:prstGeom>
          <a:noFill/>
        </p:spPr>
        <p:txBody>
          <a:bodyPr wrap="square" rtlCol="0">
            <a:spAutoFit/>
          </a:bodyPr>
          <a:lstStyle/>
          <a:p>
            <a:pPr algn="ctr"/>
            <a:r>
              <a:rPr lang="zh-CN" altLang="en-US" dirty="0">
                <a:latin typeface="Times New Roman" panose="02020603050405020304" pitchFamily="18" charset="0"/>
                <a:ea typeface="微软雅黑" panose="020B0503020204020204" pitchFamily="34" charset="-122"/>
              </a:rPr>
              <a:t>图</a:t>
            </a:r>
            <a:r>
              <a:rPr lang="en-US" altLang="zh-CN" dirty="0">
                <a:latin typeface="Times New Roman" panose="02020603050405020304" pitchFamily="18" charset="0"/>
                <a:ea typeface="微软雅黑" panose="020B0503020204020204" pitchFamily="34" charset="-122"/>
              </a:rPr>
              <a:t>14-30 RGB-G</a:t>
            </a:r>
            <a:endParaRPr lang="zh-CN" altLang="en-US" dirty="0">
              <a:latin typeface="Times New Roman" panose="02020603050405020304" pitchFamily="18" charset="0"/>
              <a:ea typeface="微软雅黑" panose="020B0503020204020204" pitchFamily="34" charset="-122"/>
            </a:endParaRPr>
          </a:p>
        </p:txBody>
      </p:sp>
      <p:sp>
        <p:nvSpPr>
          <p:cNvPr id="14" name="文本框 13"/>
          <p:cNvSpPr txBox="1"/>
          <p:nvPr/>
        </p:nvSpPr>
        <p:spPr>
          <a:xfrm>
            <a:off x="6437589" y="6412469"/>
            <a:ext cx="5504896" cy="369332"/>
          </a:xfrm>
          <a:prstGeom prst="rect">
            <a:avLst/>
          </a:prstGeom>
          <a:noFill/>
        </p:spPr>
        <p:txBody>
          <a:bodyPr wrap="square" rtlCol="0">
            <a:spAutoFit/>
          </a:bodyPr>
          <a:lstStyle/>
          <a:p>
            <a:pPr algn="ctr"/>
            <a:r>
              <a:rPr lang="zh-CN" altLang="en-US" dirty="0">
                <a:latin typeface="Times New Roman" panose="02020603050405020304" pitchFamily="18" charset="0"/>
                <a:ea typeface="微软雅黑" panose="020B0503020204020204" pitchFamily="34" charset="-122"/>
              </a:rPr>
              <a:t>图</a:t>
            </a:r>
            <a:r>
              <a:rPr lang="en-US" altLang="zh-CN" dirty="0">
                <a:latin typeface="Times New Roman" panose="02020603050405020304" pitchFamily="18" charset="0"/>
                <a:ea typeface="微软雅黑" panose="020B0503020204020204" pitchFamily="34" charset="-122"/>
              </a:rPr>
              <a:t>14-31 RGB-B</a:t>
            </a:r>
            <a:endParaRPr lang="zh-CN" altLang="en-US" dirty="0">
              <a:latin typeface="Times New Roman" panose="02020603050405020304" pitchFamily="18" charset="0"/>
              <a:ea typeface="微软雅黑" panose="020B0503020204020204" pitchFamily="34" charset="-122"/>
            </a:endParaRPr>
          </a:p>
        </p:txBody>
      </p:sp>
      <p:pic>
        <p:nvPicPr>
          <p:cNvPr id="15" name="图片 14"/>
          <p:cNvPicPr/>
          <p:nvPr/>
        </p:nvPicPr>
        <p:blipFill>
          <a:blip r:embed="rId4" cstate="print"/>
          <a:stretch>
            <a:fillRect/>
          </a:stretch>
        </p:blipFill>
        <p:spPr>
          <a:xfrm>
            <a:off x="712360" y="1134339"/>
            <a:ext cx="4347910" cy="2471897"/>
          </a:xfrm>
          <a:prstGeom prst="rect">
            <a:avLst/>
          </a:prstGeom>
        </p:spPr>
      </p:pic>
      <p:pic>
        <p:nvPicPr>
          <p:cNvPr id="16" name="图片 15"/>
          <p:cNvPicPr/>
          <p:nvPr/>
        </p:nvPicPr>
        <p:blipFill>
          <a:blip r:embed="rId5" cstate="print"/>
          <a:stretch>
            <a:fillRect/>
          </a:stretch>
        </p:blipFill>
        <p:spPr>
          <a:xfrm>
            <a:off x="6701126" y="1158875"/>
            <a:ext cx="4573514" cy="2498152"/>
          </a:xfrm>
          <a:prstGeom prst="rect">
            <a:avLst/>
          </a:prstGeom>
        </p:spPr>
      </p:pic>
      <p:pic>
        <p:nvPicPr>
          <p:cNvPr id="17" name="图片 16"/>
          <p:cNvPicPr/>
          <p:nvPr/>
        </p:nvPicPr>
        <p:blipFill>
          <a:blip r:embed="rId6" cstate="print"/>
          <a:stretch>
            <a:fillRect/>
          </a:stretch>
        </p:blipFill>
        <p:spPr>
          <a:xfrm>
            <a:off x="712360" y="4053756"/>
            <a:ext cx="4347910" cy="2258269"/>
          </a:xfrm>
          <a:prstGeom prst="rect">
            <a:avLst/>
          </a:prstGeom>
        </p:spPr>
      </p:pic>
      <p:pic>
        <p:nvPicPr>
          <p:cNvPr id="18" name="图片 17"/>
          <p:cNvPicPr/>
          <p:nvPr/>
        </p:nvPicPr>
        <p:blipFill>
          <a:blip r:embed="rId7" cstate="print"/>
          <a:stretch>
            <a:fillRect/>
          </a:stretch>
        </p:blipFill>
        <p:spPr>
          <a:xfrm>
            <a:off x="6701126" y="4076013"/>
            <a:ext cx="4573514" cy="2336456"/>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图片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600" y="0"/>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8" name="直接连接符 57"/>
          <p:cNvCxnSpPr/>
          <p:nvPr/>
        </p:nvCxnSpPr>
        <p:spPr>
          <a:xfrm>
            <a:off x="0" y="981590"/>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9" name="Rectangle 2"/>
          <p:cNvSpPr txBox="1"/>
          <p:nvPr/>
        </p:nvSpPr>
        <p:spPr>
          <a:xfrm>
            <a:off x="1648460" y="260865"/>
            <a:ext cx="8895080" cy="720725"/>
          </a:xfrm>
        </p:spPr>
        <p:txBody>
          <a:bodyPr vert="horz" wrap="square" lIns="91440" tIns="45720" rIns="91440" bIns="45720"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案例</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4 </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基于</a:t>
            </a:r>
            <a:r>
              <a:rPr lang="en-US" altLang="zh-CN"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MATLAB GUI</a:t>
            </a:r>
            <a:r>
              <a:rPr lang="zh-CN" altLang="en-US" sz="2800" b="1" dirty="0">
                <a:ln w="0"/>
                <a:latin typeface="Times New Roman" panose="02020603050405020304" pitchFamily="18" charset="0"/>
                <a:ea typeface="微软雅黑" panose="020B0503020204020204" pitchFamily="34" charset="-122"/>
                <a:cs typeface="Times New Roman" panose="02020603050405020304" pitchFamily="18" charset="0"/>
                <a:sym typeface="+mn-ea"/>
              </a:rPr>
              <a:t>的数字图像处理设计</a:t>
            </a:r>
            <a:br>
              <a:rPr lang="zh-CN" altLang="en-US" sz="2800" b="1" dirty="0">
                <a:ln w="0"/>
                <a:effectLst>
                  <a:outerShdw blurRad="38100" dist="19050" dir="2700000" algn="tl" rotWithShape="0">
                    <a:schemeClr val="dk1">
                      <a:alpha val="40000"/>
                    </a:schemeClr>
                  </a:outerShdw>
                </a:effectLst>
                <a:latin typeface="Times New Roman" panose="02020603050405020304" pitchFamily="18" charset="0"/>
                <a:ea typeface="微软雅黑" panose="020B0503020204020204" pitchFamily="34" charset="-122"/>
                <a:cs typeface="Times New Roman" panose="02020603050405020304" pitchFamily="18" charset="0"/>
              </a:rPr>
            </a:br>
            <a:endParaRPr lang="en-US" altLang="zh-CN" sz="2800" b="1" dirty="0">
              <a:ln w="0"/>
              <a:effectLst>
                <a:outerShdw blurRad="38100" dist="19050" dir="2700000" algn="tl" rotWithShape="0">
                  <a:schemeClr val="dk1">
                    <a:alpha val="40000"/>
                  </a:scheme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文本框 10"/>
          <p:cNvSpPr txBox="1"/>
          <p:nvPr/>
        </p:nvSpPr>
        <p:spPr>
          <a:xfrm>
            <a:off x="353089" y="3706681"/>
            <a:ext cx="5504896" cy="369332"/>
          </a:xfrm>
          <a:prstGeom prst="rect">
            <a:avLst/>
          </a:prstGeom>
          <a:noFill/>
        </p:spPr>
        <p:txBody>
          <a:bodyPr wrap="square" rtlCol="0">
            <a:spAutoFit/>
          </a:bodyPr>
          <a:lstStyle/>
          <a:p>
            <a:pPr algn="ctr"/>
            <a:r>
              <a:rPr lang="zh-CN" altLang="en-US" dirty="0">
                <a:latin typeface="Times New Roman" panose="02020603050405020304" pitchFamily="18" charset="0"/>
                <a:ea typeface="微软雅黑" panose="020B0503020204020204" pitchFamily="34" charset="-122"/>
              </a:rPr>
              <a:t>图</a:t>
            </a:r>
            <a:r>
              <a:rPr lang="en-US" altLang="zh-CN" dirty="0">
                <a:latin typeface="Times New Roman" panose="02020603050405020304" pitchFamily="18" charset="0"/>
                <a:ea typeface="微软雅黑" panose="020B0503020204020204" pitchFamily="34" charset="-122"/>
              </a:rPr>
              <a:t>14-32 RGB-R</a:t>
            </a:r>
            <a:r>
              <a:rPr lang="zh-CN" altLang="en-US" dirty="0">
                <a:latin typeface="Times New Roman" panose="02020603050405020304" pitchFamily="18" charset="0"/>
                <a:ea typeface="微软雅黑" panose="020B0503020204020204" pitchFamily="34" charset="-122"/>
              </a:rPr>
              <a:t>灰度直方图</a:t>
            </a:r>
          </a:p>
        </p:txBody>
      </p:sp>
      <p:sp>
        <p:nvSpPr>
          <p:cNvPr id="12" name="文本框 11"/>
          <p:cNvSpPr txBox="1"/>
          <p:nvPr/>
        </p:nvSpPr>
        <p:spPr>
          <a:xfrm>
            <a:off x="6096000" y="3763161"/>
            <a:ext cx="5504896" cy="369332"/>
          </a:xfrm>
          <a:prstGeom prst="rect">
            <a:avLst/>
          </a:prstGeom>
          <a:noFill/>
        </p:spPr>
        <p:txBody>
          <a:bodyPr wrap="square" rtlCol="0">
            <a:spAutoFit/>
          </a:bodyPr>
          <a:lstStyle/>
          <a:p>
            <a:pPr algn="ctr"/>
            <a:r>
              <a:rPr lang="zh-CN" altLang="en-US" dirty="0">
                <a:latin typeface="Times New Roman" panose="02020603050405020304" pitchFamily="18" charset="0"/>
                <a:ea typeface="微软雅黑" panose="020B0503020204020204" pitchFamily="34" charset="-122"/>
              </a:rPr>
              <a:t>图</a:t>
            </a:r>
            <a:r>
              <a:rPr lang="en-US" altLang="zh-CN" dirty="0">
                <a:latin typeface="Times New Roman" panose="02020603050405020304" pitchFamily="18" charset="0"/>
                <a:ea typeface="微软雅黑" panose="020B0503020204020204" pitchFamily="34" charset="-122"/>
              </a:rPr>
              <a:t>14-33 RGB-G</a:t>
            </a:r>
            <a:r>
              <a:rPr lang="zh-CN" altLang="en-US" dirty="0">
                <a:latin typeface="Times New Roman" panose="02020603050405020304" pitchFamily="18" charset="0"/>
                <a:ea typeface="微软雅黑" panose="020B0503020204020204" pitchFamily="34" charset="-122"/>
              </a:rPr>
              <a:t>灰度直方图</a:t>
            </a:r>
          </a:p>
        </p:txBody>
      </p:sp>
      <p:sp>
        <p:nvSpPr>
          <p:cNvPr id="13" name="文本框 12"/>
          <p:cNvSpPr txBox="1"/>
          <p:nvPr/>
        </p:nvSpPr>
        <p:spPr>
          <a:xfrm>
            <a:off x="249515" y="6412469"/>
            <a:ext cx="5504896" cy="369332"/>
          </a:xfrm>
          <a:prstGeom prst="rect">
            <a:avLst/>
          </a:prstGeom>
          <a:noFill/>
        </p:spPr>
        <p:txBody>
          <a:bodyPr wrap="square" rtlCol="0">
            <a:spAutoFit/>
          </a:bodyPr>
          <a:lstStyle/>
          <a:p>
            <a:pPr algn="ctr"/>
            <a:r>
              <a:rPr lang="zh-CN" altLang="en-US" dirty="0">
                <a:latin typeface="Times New Roman" panose="02020603050405020304" pitchFamily="18" charset="0"/>
                <a:ea typeface="微软雅黑" panose="020B0503020204020204" pitchFamily="34" charset="-122"/>
              </a:rPr>
              <a:t>图</a:t>
            </a:r>
            <a:r>
              <a:rPr lang="en-US" altLang="zh-CN" dirty="0">
                <a:latin typeface="Times New Roman" panose="02020603050405020304" pitchFamily="18" charset="0"/>
                <a:ea typeface="微软雅黑" panose="020B0503020204020204" pitchFamily="34" charset="-122"/>
              </a:rPr>
              <a:t>14-34 RGB-B</a:t>
            </a:r>
            <a:r>
              <a:rPr lang="zh-CN" altLang="en-US" dirty="0">
                <a:latin typeface="Times New Roman" panose="02020603050405020304" pitchFamily="18" charset="0"/>
                <a:ea typeface="微软雅黑" panose="020B0503020204020204" pitchFamily="34" charset="-122"/>
              </a:rPr>
              <a:t>灰度直方图</a:t>
            </a:r>
          </a:p>
        </p:txBody>
      </p:sp>
      <p:sp>
        <p:nvSpPr>
          <p:cNvPr id="14" name="文本框 13"/>
          <p:cNvSpPr txBox="1"/>
          <p:nvPr/>
        </p:nvSpPr>
        <p:spPr>
          <a:xfrm>
            <a:off x="6437589" y="6412469"/>
            <a:ext cx="5504896" cy="369332"/>
          </a:xfrm>
          <a:prstGeom prst="rect">
            <a:avLst/>
          </a:prstGeom>
          <a:noFill/>
        </p:spPr>
        <p:txBody>
          <a:bodyPr wrap="square" rtlCol="0">
            <a:spAutoFit/>
          </a:bodyPr>
          <a:lstStyle/>
          <a:p>
            <a:pPr algn="ctr"/>
            <a:r>
              <a:rPr lang="zh-CN" altLang="en-US" dirty="0">
                <a:latin typeface="Times New Roman" panose="02020603050405020304" pitchFamily="18" charset="0"/>
                <a:ea typeface="微软雅黑" panose="020B0503020204020204" pitchFamily="34" charset="-122"/>
              </a:rPr>
              <a:t>图</a:t>
            </a:r>
            <a:r>
              <a:rPr lang="en-US" altLang="zh-CN" dirty="0">
                <a:latin typeface="Times New Roman" panose="02020603050405020304" pitchFamily="18" charset="0"/>
                <a:ea typeface="微软雅黑" panose="020B0503020204020204" pitchFamily="34" charset="-122"/>
              </a:rPr>
              <a:t>14-35 R G B </a:t>
            </a:r>
            <a:r>
              <a:rPr lang="zh-CN" altLang="en-US" dirty="0">
                <a:latin typeface="Times New Roman" panose="02020603050405020304" pitchFamily="18" charset="0"/>
                <a:ea typeface="微软雅黑" panose="020B0503020204020204" pitchFamily="34" charset="-122"/>
              </a:rPr>
              <a:t>灰度直方图</a:t>
            </a:r>
          </a:p>
        </p:txBody>
      </p:sp>
      <p:pic>
        <p:nvPicPr>
          <p:cNvPr id="15" name="图片 14"/>
          <p:cNvPicPr/>
          <p:nvPr/>
        </p:nvPicPr>
        <p:blipFill>
          <a:blip r:embed="rId4" cstate="print"/>
          <a:stretch>
            <a:fillRect/>
          </a:stretch>
        </p:blipFill>
        <p:spPr>
          <a:xfrm>
            <a:off x="532659" y="1236237"/>
            <a:ext cx="4693357" cy="2369987"/>
          </a:xfrm>
          <a:prstGeom prst="rect">
            <a:avLst/>
          </a:prstGeom>
        </p:spPr>
      </p:pic>
      <p:pic>
        <p:nvPicPr>
          <p:cNvPr id="16" name="图片 15"/>
          <p:cNvPicPr/>
          <p:nvPr/>
        </p:nvPicPr>
        <p:blipFill>
          <a:blip r:embed="rId5" cstate="print"/>
          <a:stretch>
            <a:fillRect/>
          </a:stretch>
        </p:blipFill>
        <p:spPr>
          <a:xfrm>
            <a:off x="6625230" y="1236237"/>
            <a:ext cx="4880229" cy="2369988"/>
          </a:xfrm>
          <a:prstGeom prst="rect">
            <a:avLst/>
          </a:prstGeom>
        </p:spPr>
      </p:pic>
      <p:pic>
        <p:nvPicPr>
          <p:cNvPr id="17" name="图片 16"/>
          <p:cNvPicPr/>
          <p:nvPr/>
        </p:nvPicPr>
        <p:blipFill>
          <a:blip r:embed="rId6" cstate="print"/>
          <a:stretch>
            <a:fillRect/>
          </a:stretch>
        </p:blipFill>
        <p:spPr>
          <a:xfrm>
            <a:off x="532659" y="4076013"/>
            <a:ext cx="4693357" cy="2319508"/>
          </a:xfrm>
          <a:prstGeom prst="rect">
            <a:avLst/>
          </a:prstGeom>
        </p:spPr>
      </p:pic>
      <p:pic>
        <p:nvPicPr>
          <p:cNvPr id="18" name="图片 17"/>
          <p:cNvPicPr/>
          <p:nvPr/>
        </p:nvPicPr>
        <p:blipFill>
          <a:blip r:embed="rId7" cstate="print"/>
          <a:stretch>
            <a:fillRect/>
          </a:stretch>
        </p:blipFill>
        <p:spPr>
          <a:xfrm>
            <a:off x="6729566" y="4073327"/>
            <a:ext cx="4446434" cy="231950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图片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600" y="0"/>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8" name="直接连接符 57"/>
          <p:cNvCxnSpPr/>
          <p:nvPr/>
        </p:nvCxnSpPr>
        <p:spPr>
          <a:xfrm>
            <a:off x="0" y="981590"/>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pic>
        <p:nvPicPr>
          <p:cNvPr id="6" name="图片 5"/>
          <p:cNvPicPr/>
          <p:nvPr/>
        </p:nvPicPr>
        <p:blipFill>
          <a:blip r:embed="rId4" cstate="print"/>
          <a:stretch>
            <a:fillRect/>
          </a:stretch>
        </p:blipFill>
        <p:spPr>
          <a:xfrm>
            <a:off x="603682" y="1242456"/>
            <a:ext cx="3204838" cy="2186524"/>
          </a:xfrm>
          <a:prstGeom prst="rect">
            <a:avLst/>
          </a:prstGeom>
        </p:spPr>
      </p:pic>
      <p:pic>
        <p:nvPicPr>
          <p:cNvPr id="7" name="图片 6"/>
          <p:cNvPicPr/>
          <p:nvPr/>
        </p:nvPicPr>
        <p:blipFill>
          <a:blip r:embed="rId5" cstate="print"/>
          <a:stretch>
            <a:fillRect/>
          </a:stretch>
        </p:blipFill>
        <p:spPr>
          <a:xfrm>
            <a:off x="4643020" y="1242455"/>
            <a:ext cx="3480047" cy="2186525"/>
          </a:xfrm>
          <a:prstGeom prst="rect">
            <a:avLst/>
          </a:prstGeom>
        </p:spPr>
      </p:pic>
      <p:pic>
        <p:nvPicPr>
          <p:cNvPr id="9" name="图片 8"/>
          <p:cNvPicPr/>
          <p:nvPr/>
        </p:nvPicPr>
        <p:blipFill>
          <a:blip r:embed="rId6" cstate="print"/>
          <a:stretch>
            <a:fillRect/>
          </a:stretch>
        </p:blipFill>
        <p:spPr>
          <a:xfrm>
            <a:off x="8701239" y="1242455"/>
            <a:ext cx="3336881" cy="2186525"/>
          </a:xfrm>
          <a:prstGeom prst="rect">
            <a:avLst/>
          </a:prstGeom>
        </p:spPr>
      </p:pic>
      <p:sp>
        <p:nvSpPr>
          <p:cNvPr id="10" name="文本框 9"/>
          <p:cNvSpPr txBox="1"/>
          <p:nvPr/>
        </p:nvSpPr>
        <p:spPr>
          <a:xfrm>
            <a:off x="128726" y="3519840"/>
            <a:ext cx="4154750" cy="369332"/>
          </a:xfrm>
          <a:prstGeom prst="rect">
            <a:avLst/>
          </a:prstGeom>
          <a:noFill/>
        </p:spPr>
        <p:txBody>
          <a:bodyPr wrap="square" rtlCol="0">
            <a:spAutoFit/>
          </a:bodyPr>
          <a:lstStyle/>
          <a:p>
            <a:pPr algn="ctr"/>
            <a:r>
              <a:rPr lang="zh-CN" altLang="en-US" dirty="0">
                <a:latin typeface="Times New Roman" panose="02020603050405020304" pitchFamily="18" charset="0"/>
                <a:ea typeface="微软雅黑" panose="020B0503020204020204" pitchFamily="34" charset="-122"/>
              </a:rPr>
              <a:t>图</a:t>
            </a:r>
            <a:r>
              <a:rPr lang="en-US" altLang="zh-CN" dirty="0">
                <a:latin typeface="Times New Roman" panose="02020603050405020304" pitchFamily="18" charset="0"/>
                <a:ea typeface="微软雅黑" panose="020B0503020204020204" pitchFamily="34" charset="-122"/>
              </a:rPr>
              <a:t>14-36 R-G</a:t>
            </a:r>
            <a:endParaRPr lang="zh-CN" altLang="en-US" dirty="0">
              <a:latin typeface="Times New Roman" panose="02020603050405020304" pitchFamily="18" charset="0"/>
              <a:ea typeface="微软雅黑" panose="020B0503020204020204" pitchFamily="34" charset="-122"/>
            </a:endParaRPr>
          </a:p>
        </p:txBody>
      </p:sp>
      <p:sp>
        <p:nvSpPr>
          <p:cNvPr id="11" name="文本框 10"/>
          <p:cNvSpPr txBox="1"/>
          <p:nvPr/>
        </p:nvSpPr>
        <p:spPr>
          <a:xfrm>
            <a:off x="4455850" y="3563232"/>
            <a:ext cx="4154750" cy="369332"/>
          </a:xfrm>
          <a:prstGeom prst="rect">
            <a:avLst/>
          </a:prstGeom>
          <a:noFill/>
        </p:spPr>
        <p:txBody>
          <a:bodyPr wrap="square" rtlCol="0">
            <a:spAutoFit/>
          </a:bodyPr>
          <a:lstStyle/>
          <a:p>
            <a:pPr algn="ctr"/>
            <a:r>
              <a:rPr lang="zh-CN" altLang="en-US" dirty="0">
                <a:latin typeface="Times New Roman" panose="02020603050405020304" pitchFamily="18" charset="0"/>
                <a:ea typeface="微软雅黑" panose="020B0503020204020204" pitchFamily="34" charset="-122"/>
              </a:rPr>
              <a:t>图</a:t>
            </a:r>
            <a:r>
              <a:rPr lang="en-US" altLang="zh-CN" dirty="0">
                <a:latin typeface="Times New Roman" panose="02020603050405020304" pitchFamily="18" charset="0"/>
                <a:ea typeface="微软雅黑" panose="020B0503020204020204" pitchFamily="34" charset="-122"/>
              </a:rPr>
              <a:t>14-37 G-B</a:t>
            </a:r>
            <a:endParaRPr lang="zh-CN" altLang="en-US" dirty="0">
              <a:latin typeface="Times New Roman" panose="02020603050405020304" pitchFamily="18" charset="0"/>
              <a:ea typeface="微软雅黑" panose="020B0503020204020204" pitchFamily="34" charset="-122"/>
            </a:endParaRPr>
          </a:p>
        </p:txBody>
      </p:sp>
      <p:sp>
        <p:nvSpPr>
          <p:cNvPr id="12" name="文本框 11"/>
          <p:cNvSpPr txBox="1"/>
          <p:nvPr/>
        </p:nvSpPr>
        <p:spPr>
          <a:xfrm>
            <a:off x="8323925" y="3519840"/>
            <a:ext cx="4154750" cy="369332"/>
          </a:xfrm>
          <a:prstGeom prst="rect">
            <a:avLst/>
          </a:prstGeom>
          <a:noFill/>
        </p:spPr>
        <p:txBody>
          <a:bodyPr wrap="square" rtlCol="0">
            <a:spAutoFit/>
          </a:bodyPr>
          <a:lstStyle/>
          <a:p>
            <a:pPr algn="ctr"/>
            <a:r>
              <a:rPr lang="zh-CN" altLang="en-US" dirty="0">
                <a:latin typeface="Times New Roman" panose="02020603050405020304" pitchFamily="18" charset="0"/>
                <a:ea typeface="微软雅黑" panose="020B0503020204020204" pitchFamily="34" charset="-122"/>
              </a:rPr>
              <a:t>图</a:t>
            </a:r>
            <a:r>
              <a:rPr lang="en-US" altLang="zh-CN" dirty="0">
                <a:latin typeface="Times New Roman" panose="02020603050405020304" pitchFamily="18" charset="0"/>
                <a:ea typeface="微软雅黑" panose="020B0503020204020204" pitchFamily="34" charset="-122"/>
              </a:rPr>
              <a:t>14-38 R-B</a:t>
            </a:r>
            <a:endParaRPr lang="zh-CN" altLang="en-US" dirty="0">
              <a:latin typeface="Times New Roman" panose="02020603050405020304" pitchFamily="18" charset="0"/>
              <a:ea typeface="微软雅黑" panose="020B0503020204020204" pitchFamily="34" charset="-122"/>
            </a:endParaRPr>
          </a:p>
        </p:txBody>
      </p:sp>
      <p:pic>
        <p:nvPicPr>
          <p:cNvPr id="13" name="图片 12"/>
          <p:cNvPicPr/>
          <p:nvPr/>
        </p:nvPicPr>
        <p:blipFill>
          <a:blip r:embed="rId7" cstate="print"/>
          <a:stretch>
            <a:fillRect/>
          </a:stretch>
        </p:blipFill>
        <p:spPr>
          <a:xfrm>
            <a:off x="2808394" y="4023424"/>
            <a:ext cx="3294911" cy="1885221"/>
          </a:xfrm>
          <a:prstGeom prst="rect">
            <a:avLst/>
          </a:prstGeom>
        </p:spPr>
      </p:pic>
      <p:pic>
        <p:nvPicPr>
          <p:cNvPr id="14" name="图片 13"/>
          <p:cNvPicPr/>
          <p:nvPr/>
        </p:nvPicPr>
        <p:blipFill>
          <a:blip r:embed="rId8" cstate="print"/>
          <a:stretch>
            <a:fillRect/>
          </a:stretch>
        </p:blipFill>
        <p:spPr>
          <a:xfrm>
            <a:off x="7736150" y="4023424"/>
            <a:ext cx="3294911" cy="1902740"/>
          </a:xfrm>
          <a:prstGeom prst="rect">
            <a:avLst/>
          </a:prstGeom>
        </p:spPr>
      </p:pic>
      <p:sp>
        <p:nvSpPr>
          <p:cNvPr id="15" name="文本框 14"/>
          <p:cNvSpPr txBox="1"/>
          <p:nvPr/>
        </p:nvSpPr>
        <p:spPr>
          <a:xfrm>
            <a:off x="2308933" y="6005963"/>
            <a:ext cx="4154750" cy="369332"/>
          </a:xfrm>
          <a:prstGeom prst="rect">
            <a:avLst/>
          </a:prstGeom>
          <a:noFill/>
        </p:spPr>
        <p:txBody>
          <a:bodyPr wrap="square" rtlCol="0">
            <a:spAutoFit/>
          </a:bodyPr>
          <a:lstStyle/>
          <a:p>
            <a:pPr algn="ctr"/>
            <a:r>
              <a:rPr lang="zh-CN" altLang="en-US" dirty="0">
                <a:latin typeface="Times New Roman" panose="02020603050405020304" pitchFamily="18" charset="0"/>
                <a:ea typeface="微软雅黑" panose="020B0503020204020204" pitchFamily="34" charset="-122"/>
              </a:rPr>
              <a:t>图</a:t>
            </a:r>
            <a:r>
              <a:rPr lang="en-US" altLang="zh-CN" dirty="0">
                <a:latin typeface="Times New Roman" panose="02020603050405020304" pitchFamily="18" charset="0"/>
                <a:ea typeface="微软雅黑" panose="020B0503020204020204" pitchFamily="34" charset="-122"/>
              </a:rPr>
              <a:t>14-39 R-G</a:t>
            </a:r>
            <a:r>
              <a:rPr lang="zh-CN" altLang="en-US" dirty="0">
                <a:latin typeface="Times New Roman" panose="02020603050405020304" pitchFamily="18" charset="0"/>
                <a:ea typeface="微软雅黑" panose="020B0503020204020204" pitchFamily="34" charset="-122"/>
              </a:rPr>
              <a:t>提取模板</a:t>
            </a:r>
          </a:p>
        </p:txBody>
      </p:sp>
      <p:sp>
        <p:nvSpPr>
          <p:cNvPr id="16" name="文本框 15"/>
          <p:cNvSpPr txBox="1"/>
          <p:nvPr/>
        </p:nvSpPr>
        <p:spPr>
          <a:xfrm>
            <a:off x="7306230" y="6033205"/>
            <a:ext cx="4154750" cy="369332"/>
          </a:xfrm>
          <a:prstGeom prst="rect">
            <a:avLst/>
          </a:prstGeom>
          <a:noFill/>
        </p:spPr>
        <p:txBody>
          <a:bodyPr wrap="square" rtlCol="0">
            <a:spAutoFit/>
          </a:bodyPr>
          <a:lstStyle/>
          <a:p>
            <a:pPr algn="ctr"/>
            <a:r>
              <a:rPr lang="zh-CN" altLang="en-US" dirty="0">
                <a:latin typeface="Times New Roman" panose="02020603050405020304" pitchFamily="18" charset="0"/>
                <a:ea typeface="微软雅黑" panose="020B0503020204020204" pitchFamily="34" charset="-122"/>
              </a:rPr>
              <a:t>图</a:t>
            </a:r>
            <a:r>
              <a:rPr lang="en-US" altLang="zh-CN" dirty="0">
                <a:latin typeface="Times New Roman" panose="02020603050405020304" pitchFamily="18" charset="0"/>
                <a:ea typeface="微软雅黑" panose="020B0503020204020204" pitchFamily="34" charset="-122"/>
              </a:rPr>
              <a:t>14-40 </a:t>
            </a:r>
            <a:r>
              <a:rPr lang="zh-CN" altLang="en-US" dirty="0">
                <a:latin typeface="Times New Roman" panose="02020603050405020304" pitchFamily="18" charset="0"/>
                <a:ea typeface="微软雅黑" panose="020B0503020204020204" pitchFamily="34" charset="-122"/>
              </a:rPr>
              <a:t>效果完成图</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77b9e4f3-a249-4f67-837a-dffb502d0ee9"/>
  <p:tag name="COMMONDATA" val="eyJoZGlkIjoiNTIwNDI4NDYzYzg4N2JlODk5MGM5Y2RlY2NhMTk5Mzg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251</TotalTime>
  <Words>3999</Words>
  <Application>Microsoft Office PowerPoint</Application>
  <PresentationFormat>宽屏</PresentationFormat>
  <Paragraphs>427</Paragraphs>
  <Slides>27</Slides>
  <Notes>27</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27</vt:i4>
      </vt:variant>
    </vt:vector>
  </HeadingPairs>
  <TitlesOfParts>
    <vt:vector size="35" baseType="lpstr">
      <vt:lpstr>Gulim</vt:lpstr>
      <vt:lpstr>等线</vt:lpstr>
      <vt:lpstr>等线 Light</vt:lpstr>
      <vt:lpstr>宋体</vt:lpstr>
      <vt:lpstr>Arial</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刘 鑫</dc:creator>
  <cp:lastModifiedBy>qiaoyun Wu</cp:lastModifiedBy>
  <cp:revision>222</cp:revision>
  <dcterms:created xsi:type="dcterms:W3CDTF">2022-07-05T05:15:00Z</dcterms:created>
  <dcterms:modified xsi:type="dcterms:W3CDTF">2024-05-20T12:10:44Z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61FFB37CA2D646578569DB35AD4707D0</vt:lpwstr>
  </property>
  <property fmtid="{D5CDD505-2E9C-101B-9397-08002B2CF9AE}" pid="3" name="KSOProductBuildVer">
    <vt:lpwstr>2052-11.1.0.14036</vt:lpwstr>
  </property>
</Properties>
</file>