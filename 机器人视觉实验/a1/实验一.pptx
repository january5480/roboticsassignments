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03" r:id="rId2"/>
    <p:sldId id="517" r:id="rId3"/>
    <p:sldId id="570" r:id="rId4"/>
    <p:sldId id="416" r:id="rId5"/>
    <p:sldId id="571" r:id="rId6"/>
    <p:sldId id="572" r:id="rId7"/>
    <p:sldId id="573" r:id="rId8"/>
    <p:sldId id="518" r:id="rId9"/>
    <p:sldId id="519" r:id="rId10"/>
    <p:sldId id="574" r:id="rId11"/>
    <p:sldId id="575" r:id="rId12"/>
    <p:sldId id="576" r:id="rId13"/>
    <p:sldId id="579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396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EF420-D389-44F7-9ACB-0216D35A4BCF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429568-66D4-4838-9EE7-F8683FA77C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8F14-AFC2-459B-880F-E22D4421A5C8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50EBA-3C10-43C7-B399-19D8A4271C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8F14-AFC2-459B-880F-E22D4421A5C8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50EBA-3C10-43C7-B399-19D8A4271C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8F14-AFC2-459B-880F-E22D4421A5C8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50EBA-3C10-43C7-B399-19D8A4271C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8F14-AFC2-459B-880F-E22D4421A5C8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50EBA-3C10-43C7-B399-19D8A4271C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8F14-AFC2-459B-880F-E22D4421A5C8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50EBA-3C10-43C7-B399-19D8A4271C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8F14-AFC2-459B-880F-E22D4421A5C8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50EBA-3C10-43C7-B399-19D8A4271C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8F14-AFC2-459B-880F-E22D4421A5C8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50EBA-3C10-43C7-B399-19D8A4271C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8F14-AFC2-459B-880F-E22D4421A5C8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50EBA-3C10-43C7-B399-19D8A4271C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8F14-AFC2-459B-880F-E22D4421A5C8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50EBA-3C10-43C7-B399-19D8A4271C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8F14-AFC2-459B-880F-E22D4421A5C8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50EBA-3C10-43C7-B399-19D8A4271C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8F14-AFC2-459B-880F-E22D4421A5C8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50EBA-3C10-43C7-B399-19D8A4271C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88F14-AFC2-459B-880F-E22D4421A5C8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50EBA-3C10-43C7-B399-19D8A4271C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4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8" name="直接连接符 57"/>
          <p:cNvCxnSpPr/>
          <p:nvPr/>
        </p:nvCxnSpPr>
        <p:spPr>
          <a:xfrm>
            <a:off x="0" y="981590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/>
          <p:cNvSpPr txBox="1"/>
          <p:nvPr/>
        </p:nvSpPr>
        <p:spPr>
          <a:xfrm>
            <a:off x="1648460" y="260865"/>
            <a:ext cx="8895080" cy="720725"/>
          </a:xfr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案例</a:t>
            </a:r>
            <a:r>
              <a:rPr lang="en-US" altLang="zh-CN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 </a:t>
            </a:r>
            <a:r>
              <a:rPr lang="zh-CN" altLang="en-US" sz="2800" b="1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焊缝提取</a:t>
            </a:r>
            <a:br>
              <a:rPr lang="zh-CN" altLang="en-US" sz="2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</a:br>
            <a:endParaRPr lang="en-US" altLang="zh-CN" sz="2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/>
          <p:nvPr/>
        </p:nvSpPr>
        <p:spPr>
          <a:xfrm>
            <a:off x="0" y="1176296"/>
            <a:ext cx="12192000" cy="5681704"/>
          </a:xfr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案例背景：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随着视觉传感器、计算机技术、图像处理算法以及智能控制技术的不断发展，利用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机器视觉的焊缝跟踪技术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也得到了飞速发展。基于机器视觉的焊缝跟踪技术因其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信息直观、与工件无接触、测量精度高等优点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得到了国内外焊接研究工作者的关注。而精确快速的图像处理是实现这一跟踪技术的基础与关键，其中焊缝图像边缘提取的精确性直接决定了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最终焊缝位置信息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提取的结果。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8" name="直接连接符 57"/>
          <p:cNvCxnSpPr/>
          <p:nvPr/>
        </p:nvCxnSpPr>
        <p:spPr>
          <a:xfrm>
            <a:off x="0" y="981590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/>
          <p:nvPr/>
        </p:nvSpPr>
        <p:spPr>
          <a:xfrm>
            <a:off x="0" y="956706"/>
            <a:ext cx="12192000" cy="5942569"/>
          </a:xfr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理论基础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焊缝提取采用图像处理与背景分割技术，首先将焊缝图像灰度处理，采用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Canny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边缘检测提取焊缝的边缘特征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，然后将边缘检测后的图像进行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腐蚀与膨胀的处理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，减少不必要的边缘特征，最终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将处理后的边缘进行连接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，形成一个封闭区域，将封闭区域填白并与原图像进行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点乘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，实现焊缝的提取。其技术路线如下所示。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0105" y="4243526"/>
            <a:ext cx="1609817" cy="665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84085" y="4376691"/>
            <a:ext cx="1402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焊缝图像</a:t>
            </a:r>
          </a:p>
        </p:txBody>
      </p:sp>
      <p:sp>
        <p:nvSpPr>
          <p:cNvPr id="11" name="矩形 10"/>
          <p:cNvSpPr/>
          <p:nvPr/>
        </p:nvSpPr>
        <p:spPr>
          <a:xfrm>
            <a:off x="2732843" y="4243526"/>
            <a:ext cx="1609817" cy="665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06823" y="4376691"/>
            <a:ext cx="1402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灰度处理</a:t>
            </a:r>
          </a:p>
        </p:txBody>
      </p:sp>
      <p:sp>
        <p:nvSpPr>
          <p:cNvPr id="13" name="矩形 12"/>
          <p:cNvSpPr/>
          <p:nvPr/>
        </p:nvSpPr>
        <p:spPr>
          <a:xfrm>
            <a:off x="5382827" y="4243526"/>
            <a:ext cx="1609817" cy="665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486399" y="4342163"/>
            <a:ext cx="1402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边缘检测</a:t>
            </a:r>
          </a:p>
        </p:txBody>
      </p:sp>
      <p:sp>
        <p:nvSpPr>
          <p:cNvPr id="15" name="矩形 14"/>
          <p:cNvSpPr/>
          <p:nvPr/>
        </p:nvSpPr>
        <p:spPr>
          <a:xfrm>
            <a:off x="7840463" y="4243526"/>
            <a:ext cx="1609817" cy="665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944035" y="4342163"/>
            <a:ext cx="1402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前景提取</a:t>
            </a:r>
          </a:p>
        </p:txBody>
      </p:sp>
      <p:sp>
        <p:nvSpPr>
          <p:cNvPr id="17" name="矩形 16"/>
          <p:cNvSpPr/>
          <p:nvPr/>
        </p:nvSpPr>
        <p:spPr>
          <a:xfrm>
            <a:off x="10333889" y="4243526"/>
            <a:ext cx="1609817" cy="665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0333889" y="4342163"/>
            <a:ext cx="16098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小对象移除</a:t>
            </a:r>
          </a:p>
        </p:txBody>
      </p:sp>
      <p:sp>
        <p:nvSpPr>
          <p:cNvPr id="19" name="矩形 18"/>
          <p:cNvSpPr/>
          <p:nvPr/>
        </p:nvSpPr>
        <p:spPr>
          <a:xfrm>
            <a:off x="10333888" y="5799625"/>
            <a:ext cx="1609817" cy="665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0333888" y="5898262"/>
            <a:ext cx="16098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腐蚀与膨胀</a:t>
            </a:r>
          </a:p>
        </p:txBody>
      </p:sp>
      <p:sp>
        <p:nvSpPr>
          <p:cNvPr id="21" name="矩形 20"/>
          <p:cNvSpPr/>
          <p:nvPr/>
        </p:nvSpPr>
        <p:spPr>
          <a:xfrm>
            <a:off x="7840463" y="5799625"/>
            <a:ext cx="1609817" cy="665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944035" y="5898262"/>
            <a:ext cx="1402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空白填充</a:t>
            </a:r>
          </a:p>
        </p:txBody>
      </p:sp>
      <p:sp>
        <p:nvSpPr>
          <p:cNvPr id="23" name="矩形 22"/>
          <p:cNvSpPr/>
          <p:nvPr/>
        </p:nvSpPr>
        <p:spPr>
          <a:xfrm>
            <a:off x="5382827" y="5805050"/>
            <a:ext cx="1609817" cy="665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486399" y="5903687"/>
            <a:ext cx="1402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焊缝提取</a:t>
            </a:r>
          </a:p>
        </p:txBody>
      </p:sp>
      <p:sp>
        <p:nvSpPr>
          <p:cNvPr id="9" name="箭头: 右 8"/>
          <p:cNvSpPr/>
          <p:nvPr/>
        </p:nvSpPr>
        <p:spPr>
          <a:xfrm>
            <a:off x="1929413" y="4434292"/>
            <a:ext cx="714654" cy="2774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右 27"/>
          <p:cNvSpPr/>
          <p:nvPr/>
        </p:nvSpPr>
        <p:spPr>
          <a:xfrm>
            <a:off x="4475825" y="4434292"/>
            <a:ext cx="714654" cy="2774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/>
          <p:cNvSpPr/>
          <p:nvPr/>
        </p:nvSpPr>
        <p:spPr>
          <a:xfrm>
            <a:off x="7074023" y="4437733"/>
            <a:ext cx="714654" cy="2774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/>
          <p:cNvSpPr/>
          <p:nvPr/>
        </p:nvSpPr>
        <p:spPr>
          <a:xfrm>
            <a:off x="9517371" y="4428453"/>
            <a:ext cx="714654" cy="2774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/>
          <p:cNvSpPr/>
          <p:nvPr/>
        </p:nvSpPr>
        <p:spPr>
          <a:xfrm rot="5400000">
            <a:off x="10781469" y="5222275"/>
            <a:ext cx="714654" cy="2774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/>
          <p:cNvSpPr/>
          <p:nvPr/>
        </p:nvSpPr>
        <p:spPr>
          <a:xfrm rot="10800000">
            <a:off x="9517371" y="6020966"/>
            <a:ext cx="714654" cy="2774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右 32"/>
          <p:cNvSpPr/>
          <p:nvPr/>
        </p:nvSpPr>
        <p:spPr>
          <a:xfrm rot="10800000">
            <a:off x="7059226" y="6020966"/>
            <a:ext cx="714654" cy="2774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Rectangle 2"/>
          <p:cNvSpPr txBox="1"/>
          <p:nvPr/>
        </p:nvSpPr>
        <p:spPr>
          <a:xfrm>
            <a:off x="1648460" y="260865"/>
            <a:ext cx="8895080" cy="720725"/>
          </a:xfr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案例</a:t>
            </a:r>
            <a:r>
              <a:rPr lang="en-US" altLang="zh-CN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 </a:t>
            </a:r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焊缝提取</a:t>
            </a:r>
            <a:br>
              <a:rPr lang="zh-CN" altLang="en-US" sz="2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</a:br>
            <a:endParaRPr lang="en-US" altLang="zh-CN" sz="2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8" name="直接连接符 57"/>
          <p:cNvCxnSpPr/>
          <p:nvPr/>
        </p:nvCxnSpPr>
        <p:spPr>
          <a:xfrm>
            <a:off x="0" y="981590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/>
              <p:cNvSpPr txBox="1"/>
              <p:nvPr/>
            </p:nvSpPr>
            <p:spPr>
              <a:xfrm>
                <a:off x="0" y="976011"/>
                <a:ext cx="12118019" cy="5948571"/>
              </a:xfrm>
            </p:spPr>
            <p:txBody>
              <a:bodyPr vert="horz" wrap="square" lIns="91440" tIns="45720" rIns="91440" bIns="45720" anchor="t" anchorCtr="0"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4572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边缘检测：</a:t>
                </a:r>
                <a:endParaRPr lang="en-US" altLang="zh-CN" sz="2400" b="1" dirty="0">
                  <a:solidFill>
                    <a:srgbClr val="A42806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pPr marL="0" indent="45720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在图像中，边缘是指图像中对象的边界，即反映图像中像素值剧烈变化的曲线。本案例以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canny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边缘检测方法为例，对于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canny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边缘检测算子，其常见用法为：</a:t>
                </a:r>
              </a:p>
              <a:p>
                <a:pPr marL="0" indent="45720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BW=edge(I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，‘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canny’)</a:t>
                </a:r>
              </a:p>
              <a:p>
                <a:pPr marL="0" indent="45720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BW=edge(I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，‘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canny’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，‘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thresh’)</a:t>
                </a:r>
              </a:p>
              <a:p>
                <a:pPr marL="0" indent="45720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BW=edge(I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，‘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canny’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，‘</a:t>
                </a:r>
                <a:r>
                  <a:rPr lang="en-US" altLang="zh-CN" sz="2400" dirty="0" err="1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thresh’,sigma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)</a:t>
                </a:r>
              </a:p>
              <a:p>
                <a:pPr marL="0" indent="45720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I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是输入的图像，‘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canny’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指所用的边缘检测方法为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canny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；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thresh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指阈值，若为两个元素的向量，则第一个元素为低阈值，第二个元素为高阈值，若为标量，则为高阈值，低阈值为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0.5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thresh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；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sigma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是指高斯滤波的标准差，默认值是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，滤波器的大小根据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sigma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的值选择；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BW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是返回的边缘，为二值图像，取值为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的是边缘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。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CN" sz="2400" b="1" dirty="0">
                  <a:solidFill>
                    <a:srgbClr val="A42806"/>
                  </a:solidFill>
                  <a:ea typeface="Gulim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7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76011"/>
                <a:ext cx="12118019" cy="594857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/>
          <p:cNvSpPr txBox="1"/>
          <p:nvPr/>
        </p:nvSpPr>
        <p:spPr>
          <a:xfrm>
            <a:off x="1648460" y="260865"/>
            <a:ext cx="8895080" cy="720725"/>
          </a:xfr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案例</a:t>
            </a:r>
            <a:r>
              <a:rPr lang="en-US" altLang="zh-CN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 </a:t>
            </a:r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焊缝提取</a:t>
            </a:r>
            <a:br>
              <a:rPr lang="zh-CN" altLang="en-US" sz="2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</a:br>
            <a:endParaRPr lang="en-US" altLang="zh-CN" sz="2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8" name="直接连接符 57"/>
          <p:cNvCxnSpPr/>
          <p:nvPr/>
        </p:nvCxnSpPr>
        <p:spPr>
          <a:xfrm>
            <a:off x="0" y="981590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/>
          <p:cNvSpPr txBox="1"/>
          <p:nvPr/>
        </p:nvSpPr>
        <p:spPr>
          <a:xfrm>
            <a:off x="0" y="976012"/>
            <a:ext cx="12118019" cy="2273216"/>
          </a:xfr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边缘检测：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indent="0">
              <a:lnSpc>
                <a:spcPct val="100000"/>
              </a:lnSpc>
              <a:buNone/>
            </a:pPr>
            <a:endParaRPr lang="zh-CN" altLang="en-US" sz="2400" b="1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对于梯度算法，如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sobel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prewitt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roberts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等，阈值根据计算出来的梯度大小来确定。对于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zeroscross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算法，阈值根据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交叉的数目来确定，即超过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很多的像素值为边界。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对于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canny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方法，使用了两个梯度的阈值，检测的边缘连续性较好，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是这几种方法中效果最好的方法。如图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14-2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所示为不同边缘检测算子提取的效果图。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b="1" dirty="0">
              <a:solidFill>
                <a:srgbClr val="A42806"/>
              </a:solidFill>
              <a:ea typeface="Gulim" panose="020B0600000101010101" pitchFamily="34" charset="-127"/>
            </a:endParaRPr>
          </a:p>
        </p:txBody>
      </p:sp>
      <p:sp>
        <p:nvSpPr>
          <p:cNvPr id="6" name="Rectangle 2"/>
          <p:cNvSpPr txBox="1"/>
          <p:nvPr/>
        </p:nvSpPr>
        <p:spPr>
          <a:xfrm>
            <a:off x="1648460" y="260865"/>
            <a:ext cx="8895080" cy="720725"/>
          </a:xfr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案例</a:t>
            </a:r>
            <a:r>
              <a:rPr lang="en-US" altLang="zh-CN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 </a:t>
            </a:r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焊缝提取</a:t>
            </a:r>
            <a:br>
              <a:rPr lang="zh-CN" altLang="en-US" sz="2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</a:br>
            <a:endParaRPr lang="en-US" altLang="zh-CN" sz="2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740" y="3748596"/>
            <a:ext cx="9067800" cy="22669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455850" y="6145582"/>
            <a:ext cx="415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图</a:t>
            </a:r>
            <a:r>
              <a:rPr lang="en-US" altLang="zh-CN" b="1" dirty="0"/>
              <a:t>14-2 </a:t>
            </a:r>
            <a:r>
              <a:rPr lang="zh-CN" altLang="en-US" b="1" dirty="0"/>
              <a:t>不同边缘检测方法结果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8" name="直接连接符 57"/>
          <p:cNvCxnSpPr/>
          <p:nvPr/>
        </p:nvCxnSpPr>
        <p:spPr>
          <a:xfrm>
            <a:off x="0" y="981590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/>
          <p:cNvSpPr txBox="1"/>
          <p:nvPr/>
        </p:nvSpPr>
        <p:spPr>
          <a:xfrm>
            <a:off x="0" y="976012"/>
            <a:ext cx="12118019" cy="2273216"/>
          </a:xfr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形态学处理：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）前景提取</a:t>
            </a:r>
          </a:p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对于原始图像周围区域，有时可以通过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减少不必要的区域来提高边缘检测的效果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。在不影响原始图像分割的前提下，往往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将目标对象以外的区域像素值赋值为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A42806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Rectangle 2"/>
          <p:cNvSpPr txBox="1"/>
          <p:nvPr/>
        </p:nvSpPr>
        <p:spPr>
          <a:xfrm>
            <a:off x="1648460" y="260865"/>
            <a:ext cx="8895080" cy="720725"/>
          </a:xfr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案例</a:t>
            </a:r>
            <a:r>
              <a:rPr lang="en-US" altLang="zh-CN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 </a:t>
            </a:r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焊缝提取</a:t>
            </a:r>
            <a:br>
              <a:rPr lang="zh-CN" altLang="en-US" sz="2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</a:br>
            <a:endParaRPr lang="en-US" altLang="zh-CN" sz="2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55850" y="6145582"/>
            <a:ext cx="415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图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14-3 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前景提取效果图</a:t>
            </a:r>
          </a:p>
        </p:txBody>
      </p:sp>
      <p:pic>
        <p:nvPicPr>
          <p:cNvPr id="9" name="图片 8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11696" y="3339114"/>
            <a:ext cx="3224693" cy="2716582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8" name="直接连接符 57"/>
          <p:cNvCxnSpPr/>
          <p:nvPr/>
        </p:nvCxnSpPr>
        <p:spPr>
          <a:xfrm>
            <a:off x="0" y="981590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/>
          <p:cNvSpPr txBox="1"/>
          <p:nvPr/>
        </p:nvSpPr>
        <p:spPr>
          <a:xfrm>
            <a:off x="0" y="976012"/>
            <a:ext cx="12192000" cy="2273216"/>
          </a:xfr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bwareaopen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函数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bwareaopen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matlab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函数，作用是删除二值图像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BW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面积小于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的对象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，默认情况下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邻域。图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14-4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所示为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删除二值图像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BW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中像素面积小于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120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的对象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 txBox="1"/>
          <p:nvPr/>
        </p:nvSpPr>
        <p:spPr>
          <a:xfrm>
            <a:off x="1648460" y="260865"/>
            <a:ext cx="8895080" cy="720725"/>
          </a:xfr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案例</a:t>
            </a:r>
            <a:r>
              <a:rPr lang="en-US" altLang="zh-CN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 </a:t>
            </a:r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焊缝提取</a:t>
            </a:r>
            <a:br>
              <a:rPr lang="zh-CN" altLang="en-US" sz="2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</a:br>
            <a:endParaRPr lang="en-US" altLang="zh-CN" sz="2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55850" y="6145582"/>
            <a:ext cx="415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14-4 </a:t>
            </a:r>
            <a:r>
              <a:rPr lang="zh-CN" altLang="en-US" dirty="0"/>
              <a:t>小面积移除后效果图</a:t>
            </a:r>
          </a:p>
        </p:txBody>
      </p:sp>
      <p:pic>
        <p:nvPicPr>
          <p:cNvPr id="10" name="图片 9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3942" y="2979837"/>
            <a:ext cx="3294234" cy="3094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8" name="直接连接符 57"/>
          <p:cNvCxnSpPr/>
          <p:nvPr/>
        </p:nvCxnSpPr>
        <p:spPr>
          <a:xfrm>
            <a:off x="0" y="981590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/>
              <p:cNvSpPr txBox="1"/>
              <p:nvPr/>
            </p:nvSpPr>
            <p:spPr>
              <a:xfrm>
                <a:off x="0" y="976012"/>
                <a:ext cx="12118019" cy="2876898"/>
              </a:xfrm>
            </p:spPr>
            <p:txBody>
              <a:bodyPr vert="horz" wrap="square" lIns="91440" tIns="45720" rIns="91440" bIns="45720" anchor="t" anchorCtr="0"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45720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）腐蚀与膨胀</a:t>
                </a:r>
                <a:endPara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4572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腐蚀和膨胀</a:t>
                </a:r>
                <a:r>
                  <a:rPr lang="zh-CN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是数学形态学的基本操作。数学形态学的很多操作都是以腐蚀和膨胀为基础推导的算法。膨胀运算符号为</a:t>
                </a:r>
                <a14:m>
                  <m:oMath xmlns:m="http://schemas.openxmlformats.org/officeDocument/2006/math">
                    <m:r>
                      <a:rPr lang="en-US" altLang="zh-CN" sz="2400" b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Prop BT" panose="05050102010607020607"/>
                      </a:rPr>
                      <m:t>⊕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Prop BT" panose="05050102010607020607"/>
                      </a:rPr>
                      <m:t> </m:t>
                    </m:r>
                  </m:oMath>
                </a14:m>
                <a:r>
                  <a:rPr lang="zh-CN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，图像集合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用</a:t>
                </a:r>
                <a:r>
                  <a:rPr lang="zh-CN" altLang="zh-CN" sz="24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结构元素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来膨胀，记作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⊕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，其定义为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zh-CN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45720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A</m:t>
                      </m:r>
                      <m:r>
                        <a:rPr lang="en-US" altLang="zh-CN" sz="2400" b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Prop BT" panose="05050102010607020607"/>
                        </a:rPr>
                        <m:t>⊕</m:t>
                      </m:r>
                      <m:r>
                        <m:rPr>
                          <m:sty m:val="p"/>
                        </m:rPr>
                        <a:rPr lang="en-US" altLang="zh-CN" sz="2400" b="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B</m:t>
                      </m:r>
                      <m:r>
                        <a:rPr lang="en-US" altLang="zh-CN" sz="2400" b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zh-CN" sz="2400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B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b="0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</m:sub>
                              </m:sSub>
                              <m:r>
                                <a:rPr lang="en-US" altLang="zh-CN" sz="2400" b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  <a:sym typeface="SymbolProp BT" panose="05050102010607020607"/>
                                </a:rPr>
                                <m:t>⊕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</m:e>
                          </m:d>
                          <m:r>
                            <a:rPr lang="en-US" altLang="zh-CN" sz="2400" b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≠∅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45720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腐蚀运算的符号是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Prop BT" panose="05050102010607020607"/>
                      </a:rPr>
                      <m:t>Θ</m:t>
                    </m:r>
                  </m:oMath>
                </a14:m>
                <a:r>
                  <a:rPr lang="zh-CN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，图像集合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用结构元素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来腐蚀，记作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Prop BT" panose="05050102010607020607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Prop BT" panose="05050102010607020607"/>
                      </a:rPr>
                      <m:t>Θ</m:t>
                    </m:r>
                    <m:r>
                      <a:rPr lang="en-US" altLang="zh-CN" sz="2400" b="0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Prop BT" panose="05050102010607020607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，其定义为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zh-CN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45720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zh-CN" sz="2400" b="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Prop BT" panose="05050102010607020607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altLang="zh-CN" sz="2400" b="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B</m:t>
                      </m:r>
                      <m:r>
                        <a:rPr lang="en-US" altLang="zh-CN" sz="2400" b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</m:d>
                          <m:r>
                            <a:rPr lang="en-US" altLang="zh-CN" sz="2400" b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B</m:t>
                              </m:r>
                              <m:r>
                                <a:rPr lang="en-US" altLang="zh-CN" sz="2400" b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z="2400" b="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  <a:sym typeface="SymbolProp BT" panose="05050102010607020607"/>
                            </a:rPr>
                            <m:t>Θ</m:t>
                          </m:r>
                          <m:r>
                            <m:rPr>
                              <m:sty m:val="p"/>
                            </m:rPr>
                            <a:rPr lang="en-US" altLang="zh-CN" sz="2400" b="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A</m:t>
                          </m:r>
                        </m:e>
                      </m:d>
                    </m:oMath>
                  </m:oMathPara>
                </a14:m>
                <a:endParaRPr lang="zh-CN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indent="0">
                  <a:lnSpc>
                    <a:spcPct val="100000"/>
                  </a:lnSpc>
                  <a:buNone/>
                </a:pPr>
                <a:endPara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76012"/>
                <a:ext cx="12118019" cy="2876898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/>
          <p:cNvSpPr txBox="1"/>
          <p:nvPr/>
        </p:nvSpPr>
        <p:spPr>
          <a:xfrm>
            <a:off x="1648460" y="260865"/>
            <a:ext cx="8895080" cy="720725"/>
          </a:xfr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案例</a:t>
            </a:r>
            <a:r>
              <a:rPr lang="en-US" altLang="zh-CN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 </a:t>
            </a:r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焊缝提取</a:t>
            </a:r>
            <a:br>
              <a:rPr lang="zh-CN" altLang="en-US" sz="2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</a:br>
            <a:endParaRPr lang="en-US" altLang="zh-CN" sz="2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2304" y="3852910"/>
            <a:ext cx="2922852" cy="2631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3716355" y="6488668"/>
            <a:ext cx="415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14-5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腐蚀与膨胀结果图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8" name="直接连接符 57"/>
          <p:cNvCxnSpPr/>
          <p:nvPr/>
        </p:nvCxnSpPr>
        <p:spPr>
          <a:xfrm>
            <a:off x="0" y="981590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 txBox="1"/>
          <p:nvPr/>
        </p:nvSpPr>
        <p:spPr>
          <a:xfrm>
            <a:off x="1648460" y="260865"/>
            <a:ext cx="8895080" cy="720725"/>
          </a:xfr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案例</a:t>
            </a:r>
            <a:r>
              <a:rPr lang="en-US" altLang="zh-CN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 </a:t>
            </a:r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焊缝提取</a:t>
            </a:r>
            <a:br>
              <a:rPr lang="zh-CN" altLang="en-US" sz="2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</a:br>
            <a:endParaRPr lang="en-US" altLang="zh-CN" sz="2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  <p:pic>
        <p:nvPicPr>
          <p:cNvPr id="16" name="图片 1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89465" y="1988065"/>
            <a:ext cx="6170149" cy="273210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文本框 16"/>
          <p:cNvSpPr txBox="1"/>
          <p:nvPr/>
        </p:nvSpPr>
        <p:spPr>
          <a:xfrm>
            <a:off x="3532275" y="4720168"/>
            <a:ext cx="415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14-6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焊缝提取结果图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8" name="直接连接符 57"/>
          <p:cNvCxnSpPr/>
          <p:nvPr/>
        </p:nvCxnSpPr>
        <p:spPr>
          <a:xfrm>
            <a:off x="0" y="981590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/>
          <p:cNvSpPr txBox="1"/>
          <p:nvPr/>
        </p:nvSpPr>
        <p:spPr>
          <a:xfrm>
            <a:off x="0" y="952070"/>
            <a:ext cx="12192000" cy="5905930"/>
          </a:xfr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案例背景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在对图像进行处理时，通常是对图像进行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图像变换、图像压缩和图像分割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等操作。图像处理过程中，往往需要同时对多张图像进行处理，这样可以大大提高工作效率。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indent="45720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571500" indent="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理论基础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在图像批量读入与处理过程中，可以按照以下步骤进行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1)	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创建指定路径文件夹，存放待处理图像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file_path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='.\data\'; %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图像文件夹路径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img_path_list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dir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strcat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file_path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,'*.jpg')); %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获取该文件夹中所有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jpg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格式的图像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2)	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获取图像数量，批量读入图像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img_num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length(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img_path_list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);%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获取图像总数量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 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img_num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&gt; 0 %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有满足条件的图像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j = 1:img_num %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逐一读取图像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image_name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img_path_list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(j).name%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图像名</a:t>
            </a: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image = 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imread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strcat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file_path,image_name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b="1" dirty="0">
              <a:solidFill>
                <a:srgbClr val="A42806"/>
              </a:solidFill>
              <a:ea typeface="Gulim" panose="020B0600000101010101" pitchFamily="34" charset="-127"/>
            </a:endParaRPr>
          </a:p>
        </p:txBody>
      </p:sp>
      <p:sp>
        <p:nvSpPr>
          <p:cNvPr id="10" name="Rectangle 2"/>
          <p:cNvSpPr txBox="1"/>
          <p:nvPr/>
        </p:nvSpPr>
        <p:spPr>
          <a:xfrm>
            <a:off x="1648460" y="260865"/>
            <a:ext cx="8895080" cy="720725"/>
          </a:xfr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案例</a:t>
            </a:r>
            <a:r>
              <a:rPr lang="en-US" altLang="zh-CN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 </a:t>
            </a:r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图像批量读入与处理</a:t>
            </a:r>
            <a:br>
              <a:rPr lang="zh-CN" alt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endParaRPr lang="en-US" altLang="zh-CN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8" name="直接连接符 57"/>
          <p:cNvCxnSpPr/>
          <p:nvPr/>
        </p:nvCxnSpPr>
        <p:spPr>
          <a:xfrm>
            <a:off x="0" y="981590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/>
          <p:cNvSpPr txBox="1"/>
          <p:nvPr/>
        </p:nvSpPr>
        <p:spPr>
          <a:xfrm>
            <a:off x="0" y="952070"/>
            <a:ext cx="12192000" cy="1169693"/>
          </a:xfr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批量读入图像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批量读入图像在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MATLAB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中可以通过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循环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读入图像实现批量处理。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b="1" dirty="0">
              <a:solidFill>
                <a:srgbClr val="A42806"/>
              </a:solidFill>
              <a:ea typeface="Gulim" panose="020B0600000101010101" pitchFamily="34" charset="-127"/>
            </a:endParaRPr>
          </a:p>
        </p:txBody>
      </p:sp>
      <p:sp>
        <p:nvSpPr>
          <p:cNvPr id="10" name="Rectangle 2"/>
          <p:cNvSpPr txBox="1"/>
          <p:nvPr/>
        </p:nvSpPr>
        <p:spPr>
          <a:xfrm>
            <a:off x="1648460" y="260865"/>
            <a:ext cx="8895080" cy="720725"/>
          </a:xfr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案例</a:t>
            </a:r>
            <a:r>
              <a:rPr lang="en-US" altLang="zh-CN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 </a:t>
            </a:r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图像批量读入与处理</a:t>
            </a:r>
            <a:br>
              <a:rPr lang="zh-CN" altLang="en-US" sz="2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</a:br>
            <a:endParaRPr lang="en-US" altLang="zh-CN" sz="2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373355" y="2601157"/>
            <a:ext cx="466189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%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批量读取图像的一种简单办法</a:t>
            </a:r>
          </a:p>
          <a:p>
            <a:pPr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clear all;</a:t>
            </a:r>
          </a:p>
          <a:p>
            <a:pPr indent="457200"/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clc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n=6</a:t>
            </a:r>
          </a:p>
          <a:p>
            <a:pPr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I=cell(1,n);</a:t>
            </a:r>
          </a:p>
          <a:p>
            <a:pPr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=1:n</a:t>
            </a:r>
          </a:p>
          <a:p>
            <a:pPr lvl="1" indent="457200"/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imageName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strcat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file_path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</a:p>
          <a:p>
            <a:pPr lvl="1"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num2str(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),'.bmp');</a:t>
            </a:r>
          </a:p>
          <a:p>
            <a:pPr lvl="1"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I{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 =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imread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imageName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lvl="1" indent="457200"/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figure,imshow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(I{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});</a:t>
            </a:r>
          </a:p>
          <a:p>
            <a:pPr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end</a:t>
            </a:r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826091" y="5114342"/>
            <a:ext cx="415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14-7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待处理图像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 cstate="print"/>
          <a:srcRect l="4189" r="4279"/>
          <a:stretch>
            <a:fillRect/>
          </a:stretch>
        </p:blipFill>
        <p:spPr>
          <a:xfrm>
            <a:off x="3904754" y="3422342"/>
            <a:ext cx="8214360" cy="169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8" name="直接连接符 57"/>
          <p:cNvCxnSpPr/>
          <p:nvPr/>
        </p:nvCxnSpPr>
        <p:spPr>
          <a:xfrm>
            <a:off x="0" y="981590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/>
          <p:cNvSpPr txBox="1"/>
          <p:nvPr/>
        </p:nvSpPr>
        <p:spPr>
          <a:xfrm>
            <a:off x="0" y="952070"/>
            <a:ext cx="12192000" cy="1649086"/>
          </a:xfr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图像处理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在批量处理图像前，往往需要对单一图像进行处理，预览图像处理结果。如图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14-8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所示为单一图像处理结果，代码如下：</a:t>
            </a:r>
            <a:endParaRPr lang="en-US" altLang="zh-CN" sz="2400" dirty="0">
              <a:solidFill>
                <a:srgbClr val="A42806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Rectangle 2"/>
          <p:cNvSpPr txBox="1"/>
          <p:nvPr/>
        </p:nvSpPr>
        <p:spPr>
          <a:xfrm>
            <a:off x="1648460" y="260865"/>
            <a:ext cx="8895080" cy="720725"/>
          </a:xfr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案例</a:t>
            </a:r>
            <a:r>
              <a:rPr lang="en-US" altLang="zh-CN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 </a:t>
            </a:r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图像批量读入与处理</a:t>
            </a:r>
            <a:br>
              <a:rPr lang="zh-CN" altLang="en-US" sz="2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</a:br>
            <a:endParaRPr lang="en-US" altLang="zh-CN" sz="2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373355" y="2601157"/>
            <a:ext cx="672088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clear all;</a:t>
            </a:r>
          </a:p>
          <a:p>
            <a:pPr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close all;</a:t>
            </a:r>
          </a:p>
          <a:p>
            <a:pPr indent="457200"/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clc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I=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imread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('C:\Users\Data\TestPic2\1.jpg');</a:t>
            </a:r>
          </a:p>
          <a:p>
            <a:pPr indent="457200"/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figure,subplot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(121),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imshow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(I),title('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原始图像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')</a:t>
            </a:r>
          </a:p>
          <a:p>
            <a:pPr indent="457200"/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I_r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=I(:,:,1);</a:t>
            </a:r>
          </a:p>
          <a:p>
            <a:pPr indent="457200"/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I_g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=I(:,:,2);</a:t>
            </a:r>
          </a:p>
          <a:p>
            <a:pPr indent="457200"/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=I(:,:,3);</a:t>
            </a:r>
          </a:p>
          <a:p>
            <a:pPr indent="457200"/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I_rb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I_r-I_b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Obj=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im2bw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(I_rb,5/255);</a:t>
            </a:r>
          </a:p>
          <a:p>
            <a:pPr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subplot(122),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imshow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(Obj),title('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分割后图像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')</a:t>
            </a:r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104252" y="5691744"/>
            <a:ext cx="415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原始图像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 cstate="print"/>
          <a:srcRect t="5017" r="58885"/>
          <a:stretch>
            <a:fillRect/>
          </a:stretch>
        </p:blipFill>
        <p:spPr>
          <a:xfrm>
            <a:off x="6176787" y="2919086"/>
            <a:ext cx="2009680" cy="2628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4" cstate="print"/>
          <a:srcRect l="58885" t="5017"/>
          <a:stretch>
            <a:fillRect/>
          </a:stretch>
        </p:blipFill>
        <p:spPr>
          <a:xfrm>
            <a:off x="9538700" y="2919086"/>
            <a:ext cx="2009680" cy="26280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466165" y="5721264"/>
            <a:ext cx="415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分割后图像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8" name="直接连接符 57"/>
          <p:cNvCxnSpPr/>
          <p:nvPr/>
        </p:nvCxnSpPr>
        <p:spPr>
          <a:xfrm>
            <a:off x="0" y="981590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/>
          <p:cNvSpPr txBox="1"/>
          <p:nvPr/>
        </p:nvSpPr>
        <p:spPr>
          <a:xfrm>
            <a:off x="-373355" y="952070"/>
            <a:ext cx="12565355" cy="1169694"/>
          </a:xfr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批量处理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57150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批量图像往往与单一图像特征非常相似，因此，在对单一图像处理时，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设置好最佳参数，可以提高在批量处理时的成功率。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571500" indent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如图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14-9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所示为图像批量处理结果，代码如下：</a:t>
            </a:r>
            <a:endParaRPr lang="en-US" altLang="zh-CN" sz="2000" dirty="0">
              <a:solidFill>
                <a:srgbClr val="A42806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Rectangle 2"/>
          <p:cNvSpPr txBox="1"/>
          <p:nvPr/>
        </p:nvSpPr>
        <p:spPr>
          <a:xfrm>
            <a:off x="1648460" y="260865"/>
            <a:ext cx="8895080" cy="720725"/>
          </a:xfr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案例</a:t>
            </a:r>
            <a:r>
              <a:rPr lang="en-US" altLang="zh-CN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 </a:t>
            </a:r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图像批量读入与处理</a:t>
            </a:r>
            <a:br>
              <a:rPr lang="zh-CN" alt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endParaRPr lang="en-US" altLang="zh-CN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1636" y="2257460"/>
            <a:ext cx="1166525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clear all;</a:t>
            </a:r>
          </a:p>
          <a:p>
            <a:pPr indent="457200"/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clc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indent="457200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path=[</a:t>
            </a:r>
            <a:r>
              <a:rPr lang="en-US" altLang="zh-CN" b="1" dirty="0" err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uigetdir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(),'\']; %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选取文件的图片</a:t>
            </a:r>
          </a:p>
          <a:p>
            <a:pPr indent="457200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n=6;</a:t>
            </a:r>
          </a:p>
          <a:p>
            <a:pPr indent="457200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I=cell(1,n);  %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元胞数组</a:t>
            </a:r>
          </a:p>
          <a:p>
            <a:pPr indent="457200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=1:n</a:t>
            </a:r>
          </a:p>
          <a:p>
            <a:pPr lvl="1" indent="457200"/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imageName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strcat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(path,num2str(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),'.jpg');</a:t>
            </a:r>
          </a:p>
          <a:p>
            <a:pPr lvl="1" indent="457200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%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imageName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strcat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('f:\TestPic2\',num2str(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),'.jpg');  %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指定文件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457200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路径有时候换电脑运行，由于路径不对会出错</a:t>
            </a:r>
          </a:p>
          <a:p>
            <a:pPr lvl="1" indent="457200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%I=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imread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imageName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lvl="1" indent="457200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I{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 =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imread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imageName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lvl="1" indent="457200"/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figure,imshow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(I{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});</a:t>
            </a:r>
          </a:p>
          <a:p>
            <a:pPr lvl="1" indent="457200"/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I_r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=I{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}(:,:,1);</a:t>
            </a:r>
          </a:p>
          <a:p>
            <a:pPr lvl="1" indent="457200"/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I_g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=I{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}(:,:,2);</a:t>
            </a:r>
          </a:p>
          <a:p>
            <a:pPr lvl="1" indent="457200"/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I_b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=I{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}(:,:,3);</a:t>
            </a:r>
          </a:p>
          <a:p>
            <a:pPr lvl="1" indent="457200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%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imtool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I_rb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8" name="直接连接符 57"/>
          <p:cNvCxnSpPr/>
          <p:nvPr/>
        </p:nvCxnSpPr>
        <p:spPr>
          <a:xfrm>
            <a:off x="0" y="981590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/>
          <p:cNvSpPr txBox="1"/>
          <p:nvPr/>
        </p:nvSpPr>
        <p:spPr>
          <a:xfrm>
            <a:off x="-373355" y="952070"/>
            <a:ext cx="12565355" cy="1169694"/>
          </a:xfr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A42806"/>
              </a:solidFill>
              <a:ea typeface="Gulim" panose="020B0600000101010101" pitchFamily="34" charset="-127"/>
            </a:endParaRPr>
          </a:p>
        </p:txBody>
      </p:sp>
      <p:sp>
        <p:nvSpPr>
          <p:cNvPr id="10" name="Rectangle 2"/>
          <p:cNvSpPr txBox="1"/>
          <p:nvPr/>
        </p:nvSpPr>
        <p:spPr>
          <a:xfrm>
            <a:off x="1648460" y="260865"/>
            <a:ext cx="8895080" cy="720725"/>
          </a:xfr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案例</a:t>
            </a:r>
            <a:r>
              <a:rPr lang="en-US" altLang="zh-CN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 </a:t>
            </a:r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图像批量读入与处理</a:t>
            </a:r>
            <a:br>
              <a:rPr lang="zh-CN" altLang="en-US" sz="2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</a:br>
            <a:endParaRPr lang="en-US" altLang="zh-CN" sz="2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2460" y="952070"/>
            <a:ext cx="864734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457200"/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I_rb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I_r-I_b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lvl="1"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%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imshow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I_rb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lvl="1"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%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figure,imhist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I_rb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lvl="1"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Obj=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im2bw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(I_rb,5/255);</a:t>
            </a:r>
          </a:p>
          <a:p>
            <a:pPr lvl="1"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%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figure,imshow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(Obj)</a:t>
            </a:r>
          </a:p>
          <a:p>
            <a:pPr lvl="1"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subplot(1,2,1),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imshow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(I{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}),title(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strcat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('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原始图像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',num2str(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)));</a:t>
            </a:r>
          </a:p>
          <a:p>
            <a:pPr lvl="1"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subplot(1,2,2),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imshow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(Obj),title(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strcat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('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背景分割后的图像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',num2str(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)));</a:t>
            </a:r>
          </a:p>
          <a:p>
            <a:pPr lvl="1"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%Obj=uint8(Obj);</a:t>
            </a:r>
          </a:p>
          <a:p>
            <a:pPr lvl="1" indent="457200"/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imwrite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Obj,strcat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(num2str(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),'Obj.jpg'));</a:t>
            </a:r>
          </a:p>
          <a:p>
            <a:pPr indent="457200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end</a:t>
            </a:r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270976" y="6412469"/>
            <a:ext cx="415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14-9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批量处理结果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460" y="4236870"/>
            <a:ext cx="9399782" cy="1980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7b9e4f3-a249-4f67-837a-dffb502d0ee9"/>
  <p:tag name="COMMONDATA" val="eyJoZGlkIjoiNTIwNDI4NDYzYzg4N2JlODk5MGM5Y2RlY2NhMTk5Mz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1477</Words>
  <Application>Microsoft Office PowerPoint</Application>
  <PresentationFormat>宽屏</PresentationFormat>
  <Paragraphs>122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Gulim</vt:lpstr>
      <vt:lpstr>等线</vt:lpstr>
      <vt:lpstr>等线 Light</vt:lpstr>
      <vt:lpstr>宋体</vt:lpstr>
      <vt:lpstr>微软雅黑</vt:lpstr>
      <vt:lpstr>Arial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 鑫</dc:creator>
  <cp:lastModifiedBy>qiaoyun Wu</cp:lastModifiedBy>
  <cp:revision>222</cp:revision>
  <dcterms:created xsi:type="dcterms:W3CDTF">2022-07-05T05:15:00Z</dcterms:created>
  <dcterms:modified xsi:type="dcterms:W3CDTF">2024-05-20T01:54:02Z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61FFB37CA2D646578569DB35AD4707D0</vt:lpwstr>
  </property>
  <property fmtid="{D5CDD505-2E9C-101B-9397-08002B2CF9AE}" pid="3" name="KSOProductBuildVer">
    <vt:lpwstr>2052-11.1.0.14036</vt:lpwstr>
  </property>
</Properties>
</file>